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ink/ink1.xml" ContentType="application/inkml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0" r:id="rId10"/>
    <p:sldId id="263" r:id="rId11"/>
    <p:sldId id="265" r:id="rId12"/>
    <p:sldId id="272" r:id="rId13"/>
    <p:sldId id="267" r:id="rId14"/>
    <p:sldId id="274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A9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7" autoAdjust="0"/>
    <p:restoredTop sz="91606" autoAdjust="0"/>
  </p:normalViewPr>
  <p:slideViewPr>
    <p:cSldViewPr snapToGrid="0" snapToObjects="1">
      <p:cViewPr varScale="1">
        <p:scale>
          <a:sx n="90" d="100"/>
          <a:sy n="90" d="100"/>
        </p:scale>
        <p:origin x="4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5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8"/>
          <c:dPt>
            <c:idx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29-4816-8064-3685A2DA2895}"/>
              </c:ext>
            </c:extLst>
          </c:dPt>
          <c:dPt>
            <c:idx val="1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29-4816-8064-3685A2DA2895}"/>
              </c:ext>
            </c:extLst>
          </c:dPt>
          <c:cat>
            <c:strRef>
              <c:f>Sheet1!$A$2:$A$3</c:f>
              <c:strCache>
                <c:ptCount val="2"/>
                <c:pt idx="0">
                  <c:v>Rest of Market</c:v>
                </c:pt>
                <c:pt idx="1">
                  <c:v>Bacardi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94.59</c:v>
                </c:pt>
                <c:pt idx="1">
                  <c:v>5.41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29-4816-8064-3685A2DA2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791659831583553"/>
          <c:y val="3.6947725284339455E-2"/>
          <c:w val="0.83821187390638674"/>
          <c:h val="0.83376406784379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B2-4D0A-85E8-F4E3CC4A5BE0}"/>
              </c:ext>
            </c:extLst>
          </c:dPt>
          <c:dPt>
            <c:idx val="1"/>
            <c:invertIfNegative val="0"/>
            <c:bubble3D val="0"/>
            <c:spPr>
              <a:solidFill>
                <a:srgbClr val="1A1A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B2-4D0A-85E8-F4E3CC4A5BE0}"/>
              </c:ext>
            </c:extLst>
          </c:dPt>
          <c:dPt>
            <c:idx val="2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8B2-4D0A-85E8-F4E3CC4A5BE0}"/>
              </c:ext>
            </c:extLst>
          </c:dPt>
          <c:dPt>
            <c:idx val="3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8B2-4D0A-85E8-F4E3CC4A5BE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$7.7M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295138888888885"/>
                      <c:h val="4.577020202020202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C8B2-4D0A-85E8-F4E3CC4A5BE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$4.9M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136284722222223"/>
                      <c:h val="4.577020202020202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C8B2-4D0A-85E8-F4E3CC4A5BE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$2.1M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617187499999999"/>
                      <c:h val="4.577020202020202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C8B2-4D0A-85E8-F4E3CC4A5BE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3919270833333333"/>
                      <c:h val="5.523989898989899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8B2-4D0A-85E8-F4E3CC4A5BE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Puerto Rico &amp; VI Rum</c:v>
                </c:pt>
                <c:pt idx="1">
                  <c:v>Imported Vodka</c:v>
                </c:pt>
                <c:pt idx="2">
                  <c:v>Flavored Rum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1192128</c:v>
                </c:pt>
                <c:pt idx="1">
                  <c:v>829598</c:v>
                </c:pt>
                <c:pt idx="2">
                  <c:v>347839</c:v>
                </c:pt>
                <c:pt idx="3">
                  <c:v>662310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8B2-4D0A-85E8-F4E3CC4A5B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Rum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B8-458F-836B-94BCBA78B6E0}"/>
              </c:ext>
            </c:extLst>
          </c:dPt>
          <c:dPt>
            <c:idx val="1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B8-458F-836B-94BCBA78B6E0}"/>
              </c:ext>
            </c:extLst>
          </c:dPt>
          <c:dPt>
            <c:idx val="2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EB8-458F-836B-94BCBA78B6E0}"/>
              </c:ext>
            </c:extLst>
          </c:dPt>
          <c:dPt>
            <c:idx val="3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EB8-458F-836B-94BCBA78B6E0}"/>
              </c:ext>
            </c:extLst>
          </c:dPt>
          <c:dPt>
            <c:idx val="4"/>
            <c:bubble3D val="0"/>
            <c:spPr>
              <a:solidFill>
                <a:srgbClr val="66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EB8-458F-836B-94BCBA78B6E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B8-458F-836B-94BCBA78B6E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B8-458F-836B-94BCBA78B6E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B8-458F-836B-94BCBA78B6E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B8-458F-836B-94BCBA78B6E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EB8-458F-836B-94BCBA78B6E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Diageo Americas</c:v>
                </c:pt>
                <c:pt idx="1">
                  <c:v>Bacardi</c:v>
                </c:pt>
                <c:pt idx="2">
                  <c:v>Others</c:v>
                </c:pt>
                <c:pt idx="3">
                  <c:v>Pernod Ricard</c:v>
                </c:pt>
                <c:pt idx="4">
                  <c:v>Luxco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48.3</c:v>
                </c:pt>
                <c:pt idx="1">
                  <c:v>19.899999999999999</c:v>
                </c:pt>
                <c:pt idx="2">
                  <c:v>17</c:v>
                </c:pt>
                <c:pt idx="3">
                  <c:v>7.8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EB8-458F-836B-94BCBA78B6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Vodka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28-42BF-A95E-C6CA9E77B3DA}"/>
              </c:ext>
            </c:extLst>
          </c:dPt>
          <c:dPt>
            <c:idx val="1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28-42BF-A95E-C6CA9E77B3DA}"/>
              </c:ext>
            </c:extLst>
          </c:dPt>
          <c:dPt>
            <c:idx val="2"/>
            <c:bubble3D val="0"/>
            <c:spPr>
              <a:solidFill>
                <a:srgbClr val="99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28-42BF-A95E-C6CA9E77B3DA}"/>
              </c:ext>
            </c:extLst>
          </c:dPt>
          <c:dPt>
            <c:idx val="3"/>
            <c:bubble3D val="0"/>
            <c:spPr>
              <a:solidFill>
                <a:srgbClr val="7777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28-42BF-A95E-C6CA9E77B3DA}"/>
              </c:ext>
            </c:extLst>
          </c:dPt>
          <c:dPt>
            <c:idx val="4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28-42BF-A95E-C6CA9E77B3D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728-42BF-A95E-C6CA9E77B3D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728-42BF-A95E-C6CA9E77B3D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728-42BF-A95E-C6CA9E77B3D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728-42BF-A95E-C6CA9E77B3D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728-42BF-A95E-C6CA9E77B3D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Others</c:v>
                </c:pt>
                <c:pt idx="1">
                  <c:v>Diageo Americas</c:v>
                </c:pt>
                <c:pt idx="2">
                  <c:v>Pernod Ricard</c:v>
                </c:pt>
                <c:pt idx="3">
                  <c:v>Luxco</c:v>
                </c:pt>
                <c:pt idx="4">
                  <c:v>Bacardi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49.7</c:v>
                </c:pt>
                <c:pt idx="1">
                  <c:v>20.5</c:v>
                </c:pt>
                <c:pt idx="2">
                  <c:v>11.7</c:v>
                </c:pt>
                <c:pt idx="3">
                  <c:v>10.7</c:v>
                </c:pt>
                <c:pt idx="4">
                  <c:v>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28-42BF-A95E-C6CA9E77B3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revenue</c:v>
          </c:tx>
          <c:spPr>
            <a:ln w="28575" cap="rnd">
              <a:solidFill>
                <a:schemeClr val="tx1"/>
              </a:solidFill>
              <a:prstDash val="solid"/>
              <a:round/>
            </a:ln>
          </c:spPr>
          <c:marker>
            <c:symbol val="none"/>
          </c:marker>
          <c:cat>
            <c:strLit>
              <c:ptCount val="14"/>
              <c:pt idx="0">
                <c:v>2014-01</c:v>
              </c:pt>
              <c:pt idx="1">
                <c:v>2014-02</c:v>
              </c:pt>
              <c:pt idx="2">
                <c:v>2014-03</c:v>
              </c:pt>
              <c:pt idx="3">
                <c:v>2014-04</c:v>
              </c:pt>
              <c:pt idx="4">
                <c:v>2014-05</c:v>
              </c:pt>
              <c:pt idx="5">
                <c:v>2014-06</c:v>
              </c:pt>
              <c:pt idx="6">
                <c:v>2014-07</c:v>
              </c:pt>
              <c:pt idx="7">
                <c:v>2014-08</c:v>
              </c:pt>
              <c:pt idx="8">
                <c:v>2014-09</c:v>
              </c:pt>
              <c:pt idx="9">
                <c:v>2014-10</c:v>
              </c:pt>
              <c:pt idx="10">
                <c:v>2014-11</c:v>
              </c:pt>
              <c:pt idx="11">
                <c:v>2014-12</c:v>
              </c:pt>
              <c:pt idx="12">
                <c:v>2015-01</c:v>
              </c:pt>
              <c:pt idx="13">
                <c:v>2015-02</c:v>
              </c:pt>
            </c:strLit>
          </c:cat>
          <c:val>
            <c:numLit>
              <c:formatCode>General</c:formatCode>
              <c:ptCount val="14"/>
              <c:pt idx="0">
                <c:v>1946353.6</c:v>
              </c:pt>
              <c:pt idx="1">
                <c:v>2082644.02</c:v>
              </c:pt>
              <c:pt idx="2">
                <c:v>1949708.92</c:v>
              </c:pt>
              <c:pt idx="3">
                <c:v>2239143.14</c:v>
              </c:pt>
              <c:pt idx="4">
                <c:v>2712852.9</c:v>
              </c:pt>
              <c:pt idx="5">
                <c:v>1363672.46</c:v>
              </c:pt>
              <c:pt idx="6">
                <c:v>1278739.6299999999</c:v>
              </c:pt>
              <c:pt idx="7">
                <c:v>1358841.41</c:v>
              </c:pt>
              <c:pt idx="8">
                <c:v>1297919.8400000001</c:v>
              </c:pt>
              <c:pt idx="9">
                <c:v>1692714.77</c:v>
              </c:pt>
              <c:pt idx="10">
                <c:v>910264.78</c:v>
              </c:pt>
              <c:pt idx="11">
                <c:v>428896.03</c:v>
              </c:pt>
              <c:pt idx="12">
                <c:v>953309.99</c:v>
              </c:pt>
              <c:pt idx="13">
                <c:v>1001295.23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0C5-4D5D-8F47-9B029363C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6919775"/>
        <c:axId val="1606924575"/>
      </c:lineChart>
      <c:lineChart>
        <c:grouping val="standard"/>
        <c:varyColors val="0"/>
        <c:ser>
          <c:idx val="1"/>
          <c:order val="1"/>
          <c:tx>
            <c:v>transactions</c:v>
          </c:tx>
          <c:spPr>
            <a:ln w="28575" cap="rnd">
              <a:solidFill>
                <a:srgbClr val="C8A951"/>
              </a:solidFill>
              <a:prstDash val="solid"/>
              <a:round/>
            </a:ln>
          </c:spPr>
          <c:marker>
            <c:symbol val="none"/>
          </c:marker>
          <c:cat>
            <c:strLit>
              <c:ptCount val="14"/>
              <c:pt idx="0">
                <c:v>2014-01</c:v>
              </c:pt>
              <c:pt idx="1">
                <c:v>2014-02</c:v>
              </c:pt>
              <c:pt idx="2">
                <c:v>2014-03</c:v>
              </c:pt>
              <c:pt idx="3">
                <c:v>2014-04</c:v>
              </c:pt>
              <c:pt idx="4">
                <c:v>2014-05</c:v>
              </c:pt>
              <c:pt idx="5">
                <c:v>2014-06</c:v>
              </c:pt>
              <c:pt idx="6">
                <c:v>2014-07</c:v>
              </c:pt>
              <c:pt idx="7">
                <c:v>2014-08</c:v>
              </c:pt>
              <c:pt idx="8">
                <c:v>2014-09</c:v>
              </c:pt>
              <c:pt idx="9">
                <c:v>2014-10</c:v>
              </c:pt>
              <c:pt idx="10">
                <c:v>2014-11</c:v>
              </c:pt>
              <c:pt idx="11">
                <c:v>2014-12</c:v>
              </c:pt>
              <c:pt idx="12">
                <c:v>2015-01</c:v>
              </c:pt>
              <c:pt idx="13">
                <c:v>2015-02</c:v>
              </c:pt>
            </c:strLit>
          </c:cat>
          <c:val>
            <c:numLit>
              <c:formatCode>General</c:formatCode>
              <c:ptCount val="14"/>
              <c:pt idx="0">
                <c:v>15564</c:v>
              </c:pt>
              <c:pt idx="1">
                <c:v>15022</c:v>
              </c:pt>
              <c:pt idx="2">
                <c:v>16188</c:v>
              </c:pt>
              <c:pt idx="3">
                <c:v>18954</c:v>
              </c:pt>
              <c:pt idx="4">
                <c:v>18054</c:v>
              </c:pt>
              <c:pt idx="5">
                <c:v>10046</c:v>
              </c:pt>
              <c:pt idx="6">
                <c:v>10237</c:v>
              </c:pt>
              <c:pt idx="7">
                <c:v>9156</c:v>
              </c:pt>
              <c:pt idx="8">
                <c:v>8532</c:v>
              </c:pt>
              <c:pt idx="9">
                <c:v>8878</c:v>
              </c:pt>
              <c:pt idx="10">
                <c:v>7283</c:v>
              </c:pt>
              <c:pt idx="11">
                <c:v>3153</c:v>
              </c:pt>
              <c:pt idx="12">
                <c:v>7309</c:v>
              </c:pt>
              <c:pt idx="13">
                <c:v>7323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0C5-4D5D-8F47-9B029363C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6925055"/>
        <c:axId val="1606919295"/>
      </c:lineChart>
      <c:valAx>
        <c:axId val="1606924575"/>
        <c:scaling>
          <c:orientation val="minMax"/>
        </c:scaling>
        <c:delete val="0"/>
        <c:axPos val="l"/>
        <c:majorGridlines>
          <c:spPr>
            <a:ln w="9528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.00&quot; &quot;;[Red]&quot;(&quot;&quot;$&quot;#,##0.00&quot;)&quot;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06919775"/>
        <c:crosses val="autoZero"/>
        <c:crossBetween val="between"/>
      </c:valAx>
      <c:catAx>
        <c:axId val="160691977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06924575"/>
        <c:crosses val="autoZero"/>
        <c:auto val="1"/>
        <c:lblAlgn val="ctr"/>
        <c:lblOffset val="100"/>
        <c:noMultiLvlLbl val="0"/>
      </c:catAx>
      <c:valAx>
        <c:axId val="1606919295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06925055"/>
        <c:crosses val="max"/>
        <c:crossBetween val="between"/>
      </c:valAx>
      <c:catAx>
        <c:axId val="1606925055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606919295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900" b="0" i="0" u="none" strike="noStrike" kern="1200" baseline="0">
              <a:solidFill>
                <a:srgbClr val="595959"/>
              </a:solidFill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400" b="0" i="0" u="none" strike="noStrike" kern="1200" spc="0" baseline="0">
                <a:solidFill>
                  <a:srgbClr val="595959"/>
                </a:solidFill>
                <a:latin typeface="Aptos"/>
              </a:defRPr>
            </a:pPr>
            <a:r>
              <a:rPr lang="en-US" sz="1400" b="0" i="0" u="none" strike="noStrike" kern="1200" cap="none" spc="0" baseline="0">
                <a:solidFill>
                  <a:srgbClr val="595959"/>
                </a:solidFill>
                <a:uFillTx/>
                <a:latin typeface="Aptos"/>
              </a:rPr>
              <a:t># of SKUs and Revenues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Bottle Size</c:v>
          </c:tx>
          <c:spPr>
            <a:solidFill>
              <a:srgbClr val="156082"/>
            </a:solidFill>
            <a:ln>
              <a:noFill/>
            </a:ln>
          </c:spPr>
          <c:invertIfNegative val="0"/>
          <c:cat>
            <c:numLit>
              <c:formatCode>General</c:formatCode>
              <c:ptCount val="4"/>
              <c:pt idx="0">
                <c:v>375</c:v>
              </c:pt>
              <c:pt idx="1">
                <c:v>1750</c:v>
              </c:pt>
              <c:pt idx="2">
                <c:v>750</c:v>
              </c:pt>
              <c:pt idx="3">
                <c:v>1000</c:v>
              </c:pt>
            </c:numLit>
          </c:cat>
          <c:val>
            <c:numLit>
              <c:formatCode>General</c:formatCode>
              <c:ptCount val="4"/>
              <c:pt idx="0">
                <c:v>375</c:v>
              </c:pt>
              <c:pt idx="1">
                <c:v>1750</c:v>
              </c:pt>
              <c:pt idx="2">
                <c:v>750</c:v>
              </c:pt>
              <c:pt idx="3">
                <c:v>1000</c:v>
              </c:pt>
            </c:numLit>
          </c:val>
          <c:extLst>
            <c:ext xmlns:c16="http://schemas.microsoft.com/office/drawing/2014/chart" uri="{C3380CC4-5D6E-409C-BE32-E72D297353CC}">
              <c16:uniqueId val="{00000000-667E-4204-BF73-11427C15B5C6}"/>
            </c:ext>
          </c:extLst>
        </c:ser>
        <c:ser>
          <c:idx val="1"/>
          <c:order val="1"/>
          <c:tx>
            <c:v>AvgRevPerProdBottleSize</c:v>
          </c:tx>
          <c:spPr>
            <a:solidFill>
              <a:srgbClr val="196B24"/>
            </a:solidFill>
            <a:ln w="9528">
              <a:solidFill>
                <a:srgbClr val="F0F8FD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8A951"/>
              </a:solidFill>
              <a:ln w="9528">
                <a:solidFill>
                  <a:srgbClr val="F0F8F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478-4CDB-8467-544A9C3DA658}"/>
              </c:ext>
            </c:extLst>
          </c:dPt>
          <c:dPt>
            <c:idx val="1"/>
            <c:invertIfNegative val="0"/>
            <c:bubble3D val="0"/>
            <c:spPr>
              <a:solidFill>
                <a:srgbClr val="C8A951"/>
              </a:solidFill>
              <a:ln w="9528">
                <a:solidFill>
                  <a:srgbClr val="F0F8F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6478-4CDB-8467-544A9C3DA658}"/>
              </c:ext>
            </c:extLst>
          </c:dPt>
          <c:dPt>
            <c:idx val="2"/>
            <c:invertIfNegative val="0"/>
            <c:bubble3D val="0"/>
            <c:spPr>
              <a:solidFill>
                <a:srgbClr val="C8A951"/>
              </a:solidFill>
              <a:ln w="9528">
                <a:solidFill>
                  <a:srgbClr val="F0F8F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478-4CDB-8467-544A9C3DA658}"/>
              </c:ext>
            </c:extLst>
          </c:dPt>
          <c:dPt>
            <c:idx val="3"/>
            <c:invertIfNegative val="0"/>
            <c:bubble3D val="0"/>
            <c:spPr>
              <a:solidFill>
                <a:srgbClr val="C8A951"/>
              </a:solidFill>
              <a:ln w="9528">
                <a:solidFill>
                  <a:srgbClr val="F0F8FD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6478-4CDB-8467-544A9C3DA658}"/>
              </c:ext>
            </c:extLst>
          </c:dPt>
          <c:cat>
            <c:numLit>
              <c:formatCode>General</c:formatCode>
              <c:ptCount val="4"/>
              <c:pt idx="0">
                <c:v>375</c:v>
              </c:pt>
              <c:pt idx="1">
                <c:v>1750</c:v>
              </c:pt>
              <c:pt idx="2">
                <c:v>750</c:v>
              </c:pt>
              <c:pt idx="3">
                <c:v>1000</c:v>
              </c:pt>
            </c:numLit>
          </c:cat>
          <c:val>
            <c:numLit>
              <c:formatCode>General</c:formatCode>
              <c:ptCount val="4"/>
              <c:pt idx="0">
                <c:v>78826.224545454548</c:v>
              </c:pt>
              <c:pt idx="1">
                <c:v>194508.03454545455</c:v>
              </c:pt>
              <c:pt idx="2">
                <c:v>139166.74113207549</c:v>
              </c:pt>
              <c:pt idx="3">
                <c:v>361530.00727272726</c:v>
              </c:pt>
            </c:numLit>
          </c:val>
          <c:extLst>
            <c:ext xmlns:c16="http://schemas.microsoft.com/office/drawing/2014/chart" uri="{C3380CC4-5D6E-409C-BE32-E72D297353CC}">
              <c16:uniqueId val="{00000001-667E-4204-BF73-11427C15B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06923615"/>
        <c:axId val="1606918335"/>
      </c:barChart>
      <c:lineChart>
        <c:grouping val="standard"/>
        <c:varyColors val="0"/>
        <c:ser>
          <c:idx val="2"/>
          <c:order val="2"/>
          <c:tx>
            <c:v>Count of item_description</c:v>
          </c:tx>
          <c:spPr>
            <a:ln w="28575" cap="rnd">
              <a:solidFill>
                <a:srgbClr val="156082"/>
              </a:solidFill>
              <a:prstDash val="solid"/>
              <a:round/>
            </a:ln>
          </c:spPr>
          <c:marker>
            <c:symbol val="none"/>
          </c:marker>
          <c:dPt>
            <c:idx val="1"/>
            <c:bubble3D val="0"/>
            <c:spPr>
              <a:ln w="28575" cap="rnd">
                <a:solidFill>
                  <a:schemeClr val="tx1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6-6478-4CDB-8467-544A9C3DA658}"/>
              </c:ext>
            </c:extLst>
          </c:dPt>
          <c:dPt>
            <c:idx val="2"/>
            <c:bubble3D val="0"/>
            <c:spPr>
              <a:ln w="28575" cap="rnd">
                <a:solidFill>
                  <a:schemeClr val="tx1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4-6478-4CDB-8467-544A9C3DA658}"/>
              </c:ext>
            </c:extLst>
          </c:dPt>
          <c:dPt>
            <c:idx val="3"/>
            <c:bubble3D val="0"/>
            <c:spPr>
              <a:ln w="28575" cap="rnd">
                <a:solidFill>
                  <a:schemeClr val="tx1"/>
                </a:solidFill>
                <a:prstDash val="solid"/>
                <a:round/>
              </a:ln>
            </c:spPr>
            <c:extLst>
              <c:ext xmlns:c16="http://schemas.microsoft.com/office/drawing/2014/chart" uri="{C3380CC4-5D6E-409C-BE32-E72D297353CC}">
                <c16:uniqueId val="{00000005-6478-4CDB-8467-544A9C3DA658}"/>
              </c:ext>
            </c:extLst>
          </c:dPt>
          <c:cat>
            <c:strLit>
              <c:ptCount val="4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</c:strLit>
          </c:cat>
          <c:val>
            <c:numLit>
              <c:formatCode>General</c:formatCode>
              <c:ptCount val="4"/>
              <c:pt idx="0">
                <c:v>11</c:v>
              </c:pt>
              <c:pt idx="1">
                <c:v>22</c:v>
              </c:pt>
              <c:pt idx="2">
                <c:v>53</c:v>
              </c:pt>
              <c:pt idx="3">
                <c:v>22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667E-4204-BF73-11427C15B5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6922655"/>
        <c:axId val="1606922175"/>
      </c:lineChart>
      <c:valAx>
        <c:axId val="1606918335"/>
        <c:scaling>
          <c:orientation val="minMax"/>
        </c:scaling>
        <c:delete val="0"/>
        <c:axPos val="l"/>
        <c:majorGridlines>
          <c:spPr>
            <a:ln w="9528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06923615"/>
        <c:crosses val="autoZero"/>
        <c:crossBetween val="between"/>
      </c:valAx>
      <c:catAx>
        <c:axId val="160692361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FF0000"/>
                </a:solidFill>
                <a:latin typeface="Aptos"/>
              </a:defRPr>
            </a:pPr>
            <a:endParaRPr lang="en-US"/>
          </a:p>
        </c:txPr>
        <c:crossAx val="1606918335"/>
        <c:crosses val="autoZero"/>
        <c:auto val="1"/>
        <c:lblAlgn val="ctr"/>
        <c:lblOffset val="100"/>
        <c:noMultiLvlLbl val="0"/>
      </c:catAx>
      <c:valAx>
        <c:axId val="1606922175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06922655"/>
        <c:crosses val="max"/>
        <c:crossBetween val="between"/>
      </c:valAx>
      <c:catAx>
        <c:axId val="1606922655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1606922175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legend>
      <c:legendPos val="b"/>
      <c:legendEntry>
        <c:idx val="0"/>
        <c:delete val="1"/>
      </c:legendEntry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900" b="0" i="0" u="none" strike="noStrike" kern="1200" baseline="0">
              <a:solidFill>
                <a:srgbClr val="595959"/>
              </a:solidFill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Capita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1A-4460-A793-0287C2CE9647}"/>
              </c:ext>
            </c:extLst>
          </c:dPt>
          <c:dPt>
            <c:idx val="1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1A-4460-A793-0287C2CE9647}"/>
              </c:ext>
            </c:extLst>
          </c:dPt>
          <c:dPt>
            <c:idx val="2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1A-4460-A793-0287C2CE9647}"/>
              </c:ext>
            </c:extLst>
          </c:dPt>
          <c:dPt>
            <c:idx val="3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1A-4460-A793-0287C2CE9647}"/>
              </c:ext>
            </c:extLst>
          </c:dPt>
          <c:dPt>
            <c:idx val="4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1A-4460-A793-0287C2CE96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Polk</c:v>
                </c:pt>
                <c:pt idx="1">
                  <c:v>Scott</c:v>
                </c:pt>
                <c:pt idx="2">
                  <c:v>Johnson</c:v>
                </c:pt>
                <c:pt idx="3">
                  <c:v>Linn</c:v>
                </c:pt>
                <c:pt idx="4">
                  <c:v>Black Hawk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11.61</c:v>
                </c:pt>
                <c:pt idx="1">
                  <c:v>10.54</c:v>
                </c:pt>
                <c:pt idx="2">
                  <c:v>11.24</c:v>
                </c:pt>
                <c:pt idx="3">
                  <c:v>8.01</c:v>
                </c:pt>
                <c:pt idx="4">
                  <c:v>8.92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1A-4460-A793-0287C2CE96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8289969188634029E-2"/>
          <c:y val="4.6698301395249643E-2"/>
          <c:w val="0.91703611776788774"/>
          <c:h val="0.90042092819308828"/>
        </c:manualLayout>
      </c:layout>
      <c:scatterChart>
        <c:scatterStyle val="lineMarker"/>
        <c:varyColors val="0"/>
        <c:ser>
          <c:idx val="0"/>
          <c:order val="0"/>
          <c:tx>
            <c:v>bacardi_revenue_per_capita</c:v>
          </c:tx>
          <c:spPr>
            <a:ln>
              <a:noFill/>
            </a:ln>
          </c:spPr>
          <c:marker>
            <c:symbol val="circle"/>
            <c:size val="5"/>
          </c:marker>
          <c:xVal>
            <c:numLit>
              <c:formatCode>General</c:formatCode>
              <c:ptCount val="99"/>
              <c:pt idx="0">
                <c:v>430640</c:v>
              </c:pt>
              <c:pt idx="1">
                <c:v>165224</c:v>
              </c:pt>
              <c:pt idx="2">
                <c:v>211226</c:v>
              </c:pt>
              <c:pt idx="3">
                <c:v>130882</c:v>
              </c:pt>
              <c:pt idx="4">
                <c:v>131090</c:v>
              </c:pt>
              <c:pt idx="5">
                <c:v>93653</c:v>
              </c:pt>
              <c:pt idx="6">
                <c:v>93158</c:v>
              </c:pt>
              <c:pt idx="7">
                <c:v>102172</c:v>
              </c:pt>
              <c:pt idx="8">
                <c:v>89542</c:v>
              </c:pt>
              <c:pt idx="9">
                <c:v>66135</c:v>
              </c:pt>
              <c:pt idx="10">
                <c:v>44151</c:v>
              </c:pt>
              <c:pt idx="11">
                <c:v>16667</c:v>
              </c:pt>
              <c:pt idx="12">
                <c:v>40325</c:v>
              </c:pt>
              <c:pt idx="13">
                <c:v>49116</c:v>
              </c:pt>
              <c:pt idx="14">
                <c:v>42745</c:v>
              </c:pt>
              <c:pt idx="15">
                <c:v>35862</c:v>
              </c:pt>
              <c:pt idx="16">
                <c:v>20816</c:v>
              </c:pt>
              <c:pt idx="17">
                <c:v>38013</c:v>
              </c:pt>
              <c:pt idx="18">
                <c:v>40648</c:v>
              </c:pt>
              <c:pt idx="19">
                <c:v>35625</c:v>
              </c:pt>
              <c:pt idx="20">
                <c:v>33309</c:v>
              </c:pt>
              <c:pt idx="21">
                <c:v>33704</c:v>
              </c:pt>
              <c:pt idx="22">
                <c:v>20260</c:v>
              </c:pt>
              <c:pt idx="23">
                <c:v>17534</c:v>
              </c:pt>
              <c:pt idx="24">
                <c:v>24276</c:v>
              </c:pt>
              <c:pt idx="25">
                <c:v>46225</c:v>
              </c:pt>
              <c:pt idx="26">
                <c:v>21056</c:v>
              </c:pt>
              <c:pt idx="27">
                <c:v>15543</c:v>
              </c:pt>
              <c:pt idx="28">
                <c:v>26306</c:v>
              </c:pt>
              <c:pt idx="29">
                <c:v>21704</c:v>
              </c:pt>
              <c:pt idx="30">
                <c:v>16355</c:v>
              </c:pt>
              <c:pt idx="31">
                <c:v>36842</c:v>
              </c:pt>
              <c:pt idx="32">
                <c:v>24986</c:v>
              </c:pt>
              <c:pt idx="33">
                <c:v>16667</c:v>
              </c:pt>
              <c:pt idx="34">
                <c:v>20638</c:v>
              </c:pt>
              <c:pt idx="35">
                <c:v>17096</c:v>
              </c:pt>
              <c:pt idx="36">
                <c:v>18914</c:v>
              </c:pt>
              <c:pt idx="37">
                <c:v>12167</c:v>
              </c:pt>
              <c:pt idx="38">
                <c:v>19848</c:v>
              </c:pt>
              <c:pt idx="39">
                <c:v>10866</c:v>
              </c:pt>
              <c:pt idx="40">
                <c:v>20958</c:v>
              </c:pt>
              <c:pt idx="41">
                <c:v>16303</c:v>
              </c:pt>
              <c:pt idx="42">
                <c:v>22381</c:v>
              </c:pt>
              <c:pt idx="43">
                <c:v>20880</c:v>
              </c:pt>
              <c:pt idx="44">
                <c:v>20145</c:v>
              </c:pt>
              <c:pt idx="45">
                <c:v>17764</c:v>
              </c:pt>
              <c:pt idx="46">
                <c:v>15932</c:v>
              </c:pt>
              <c:pt idx="47">
                <c:v>13956</c:v>
              </c:pt>
              <c:pt idx="48">
                <c:v>12534</c:v>
              </c:pt>
              <c:pt idx="49">
                <c:v>14330</c:v>
              </c:pt>
              <c:pt idx="50">
                <c:v>14398</c:v>
              </c:pt>
              <c:pt idx="51">
                <c:v>13229</c:v>
              </c:pt>
              <c:pt idx="52">
                <c:v>18129</c:v>
              </c:pt>
              <c:pt idx="53">
                <c:v>16843</c:v>
              </c:pt>
              <c:pt idx="54">
                <c:v>12884</c:v>
              </c:pt>
              <c:pt idx="55">
                <c:v>9566</c:v>
              </c:pt>
              <c:pt idx="56">
                <c:v>9421</c:v>
              </c:pt>
              <c:pt idx="57">
                <c:v>15673</c:v>
              </c:pt>
              <c:pt idx="58">
                <c:v>11581</c:v>
              </c:pt>
              <c:pt idx="59">
                <c:v>10680</c:v>
              </c:pt>
              <c:pt idx="60">
                <c:v>10350</c:v>
              </c:pt>
              <c:pt idx="61">
                <c:v>10302</c:v>
              </c:pt>
              <c:pt idx="62">
                <c:v>26076</c:v>
              </c:pt>
              <c:pt idx="63">
                <c:v>9815</c:v>
              </c:pt>
              <c:pt idx="64">
                <c:v>9243</c:v>
              </c:pt>
              <c:pt idx="65">
                <c:v>17767</c:v>
              </c:pt>
              <c:pt idx="66">
                <c:v>15059</c:v>
              </c:pt>
              <c:pt idx="67">
                <c:v>10776</c:v>
              </c:pt>
              <c:pt idx="68">
                <c:v>12072</c:v>
              </c:pt>
              <c:pt idx="69">
                <c:v>7598</c:v>
              </c:pt>
              <c:pt idx="70">
                <c:v>14928</c:v>
              </c:pt>
              <c:pt idx="71">
                <c:v>9670</c:v>
              </c:pt>
              <c:pt idx="72">
                <c:v>18499</c:v>
              </c:pt>
              <c:pt idx="73">
                <c:v>15679</c:v>
              </c:pt>
              <c:pt idx="74">
                <c:v>9286</c:v>
              </c:pt>
              <c:pt idx="75">
                <c:v>10740</c:v>
              </c:pt>
              <c:pt idx="76">
                <c:v>7089</c:v>
              </c:pt>
              <c:pt idx="77">
                <c:v>9336</c:v>
              </c:pt>
              <c:pt idx="78">
                <c:v>7682</c:v>
              </c:pt>
              <c:pt idx="79">
                <c:v>11341</c:v>
              </c:pt>
              <c:pt idx="80">
                <c:v>6119</c:v>
              </c:pt>
              <c:pt idx="81">
                <c:v>12439</c:v>
              </c:pt>
              <c:pt idx="82">
                <c:v>8898</c:v>
              </c:pt>
              <c:pt idx="83">
                <c:v>14867</c:v>
              </c:pt>
              <c:pt idx="84">
                <c:v>12453</c:v>
              </c:pt>
              <c:pt idx="85">
                <c:v>7970</c:v>
              </c:pt>
              <c:pt idx="86">
                <c:v>6462</c:v>
              </c:pt>
              <c:pt idx="87">
                <c:v>7310</c:v>
              </c:pt>
              <c:pt idx="88">
                <c:v>8457</c:v>
              </c:pt>
              <c:pt idx="89">
                <c:v>11387</c:v>
              </c:pt>
              <c:pt idx="90">
                <c:v>10954</c:v>
              </c:pt>
              <c:pt idx="91">
                <c:v>6403</c:v>
              </c:pt>
              <c:pt idx="92">
                <c:v>7570</c:v>
              </c:pt>
              <c:pt idx="93">
                <c:v>10511</c:v>
              </c:pt>
              <c:pt idx="94">
                <c:v>8753</c:v>
              </c:pt>
              <c:pt idx="95">
                <c:v>5131</c:v>
              </c:pt>
              <c:pt idx="96">
                <c:v>6317</c:v>
              </c:pt>
              <c:pt idx="97">
                <c:v>4029</c:v>
              </c:pt>
              <c:pt idx="98">
                <c:v>7441</c:v>
              </c:pt>
            </c:numLit>
          </c:xVal>
          <c:yVal>
            <c:numLit>
              <c:formatCode>General</c:formatCode>
              <c:ptCount val="99"/>
              <c:pt idx="0">
                <c:v>11.608120471855843</c:v>
              </c:pt>
              <c:pt idx="1">
                <c:v>10.542502723575268</c:v>
              </c:pt>
              <c:pt idx="2">
                <c:v>8.0104553416719533</c:v>
              </c:pt>
              <c:pt idx="3">
                <c:v>11.244280649745573</c:v>
              </c:pt>
              <c:pt idx="4">
                <c:v>8.9226179723853836</c:v>
              </c:pt>
              <c:pt idx="5">
                <c:v>8.6240644720404038</c:v>
              </c:pt>
              <c:pt idx="6">
                <c:v>8.5387873290538661</c:v>
              </c:pt>
              <c:pt idx="7">
                <c:v>7.2611199741612182</c:v>
              </c:pt>
              <c:pt idx="8">
                <c:v>7.9575786781622035</c:v>
              </c:pt>
              <c:pt idx="9">
                <c:v>9.4313566190368192</c:v>
              </c:pt>
              <c:pt idx="10">
                <c:v>9.6241652510701918</c:v>
              </c:pt>
              <c:pt idx="11">
                <c:v>21.338146037079259</c:v>
              </c:pt>
              <c:pt idx="12">
                <c:v>7.0433160570365771</c:v>
              </c:pt>
              <c:pt idx="13">
                <c:v>5.733883663164753</c:v>
              </c:pt>
              <c:pt idx="14">
                <c:v>6.4019742659960235</c:v>
              </c:pt>
              <c:pt idx="15">
                <c:v>6.804178796497685</c:v>
              </c:pt>
              <c:pt idx="16">
                <c:v>11.421915353574173</c:v>
              </c:pt>
              <c:pt idx="17">
                <c:v>6.03421040170468</c:v>
              </c:pt>
              <c:pt idx="18">
                <c:v>4.2258873745325722</c:v>
              </c:pt>
              <c:pt idx="19">
                <c:v>4.2316494035087722</c:v>
              </c:pt>
              <c:pt idx="20">
                <c:v>4.1824539914137313</c:v>
              </c:pt>
              <c:pt idx="21">
                <c:v>3.8475943508188939</c:v>
              </c:pt>
              <c:pt idx="22">
                <c:v>6.2419141164856855</c:v>
              </c:pt>
              <c:pt idx="23">
                <c:v>7.0742785445420324</c:v>
              </c:pt>
              <c:pt idx="24">
                <c:v>4.9977409787444387</c:v>
              </c:pt>
              <c:pt idx="25">
                <c:v>2.4452573282855599</c:v>
              </c:pt>
              <c:pt idx="26">
                <c:v>5.2656283244680857</c:v>
              </c:pt>
              <c:pt idx="27">
                <c:v>7.01411825258959</c:v>
              </c:pt>
              <c:pt idx="28">
                <c:v>3.9437379305101499</c:v>
              </c:pt>
              <c:pt idx="29">
                <c:v>4.6690683744931816</c:v>
              </c:pt>
              <c:pt idx="30">
                <c:v>6.1811354325894223</c:v>
              </c:pt>
              <c:pt idx="31">
                <c:v>2.7024719070625918</c:v>
              </c:pt>
              <c:pt idx="32">
                <c:v>3.9390602737533018</c:v>
              </c:pt>
              <c:pt idx="33">
                <c:v>5.5107499850002997</c:v>
              </c:pt>
              <c:pt idx="34">
                <c:v>4.0548342862680489</c:v>
              </c:pt>
              <c:pt idx="35">
                <c:v>4.4926462330369681</c:v>
              </c:pt>
              <c:pt idx="36">
                <c:v>3.9358543935708998</c:v>
              </c:pt>
              <c:pt idx="37">
                <c:v>5.6193005671077501</c:v>
              </c:pt>
              <c:pt idx="38">
                <c:v>3.3730547158403867</c:v>
              </c:pt>
              <c:pt idx="39">
                <c:v>5.985504325418737</c:v>
              </c:pt>
              <c:pt idx="40">
                <c:v>3.0172354232274072</c:v>
              </c:pt>
              <c:pt idx="41">
                <c:v>3.84859228362878</c:v>
              </c:pt>
              <c:pt idx="42">
                <c:v>2.7916786560028592</c:v>
              </c:pt>
              <c:pt idx="43">
                <c:v>2.9565727969348656</c:v>
              </c:pt>
              <c:pt idx="44">
                <c:v>3.002470588235294</c:v>
              </c:pt>
              <c:pt idx="45">
                <c:v>3.3766995046160777</c:v>
              </c:pt>
              <c:pt idx="46">
                <c:v>3.6226217675119257</c:v>
              </c:pt>
              <c:pt idx="47">
                <c:v>4.1175781026081975</c:v>
              </c:pt>
              <c:pt idx="48">
                <c:v>4.1798946864528483</c:v>
              </c:pt>
              <c:pt idx="49">
                <c:v>3.5934682484298675</c:v>
              </c:pt>
              <c:pt idx="50">
                <c:v>3.4423149048478954</c:v>
              </c:pt>
              <c:pt idx="51">
                <c:v>3.5416992969990173</c:v>
              </c:pt>
              <c:pt idx="52">
                <c:v>2.557197859782669</c:v>
              </c:pt>
              <c:pt idx="53">
                <c:v>2.739189574303865</c:v>
              </c:pt>
              <c:pt idx="54">
                <c:v>3.5636999379074821</c:v>
              </c:pt>
              <c:pt idx="55">
                <c:v>4.6949100982646881</c:v>
              </c:pt>
              <c:pt idx="56">
                <c:v>4.7661723808512901</c:v>
              </c:pt>
              <c:pt idx="57">
                <c:v>2.5560090601671668</c:v>
              </c:pt>
              <c:pt idx="58">
                <c:v>3.410603574820827</c:v>
              </c:pt>
              <c:pt idx="59">
                <c:v>3.5420636704119848</c:v>
              </c:pt>
              <c:pt idx="60">
                <c:v>3.5899207729468601</c:v>
              </c:pt>
              <c:pt idx="61">
                <c:v>3.5856154144826249</c:v>
              </c:pt>
              <c:pt idx="62">
                <c:v>1.3598055683387023</c:v>
              </c:pt>
              <c:pt idx="63">
                <c:v>3.5945736118186447</c:v>
              </c:pt>
              <c:pt idx="64">
                <c:v>3.7766212268743913</c:v>
              </c:pt>
              <c:pt idx="65">
                <c:v>1.9400512185512466</c:v>
              </c:pt>
              <c:pt idx="66">
                <c:v>2.147093432498838</c:v>
              </c:pt>
              <c:pt idx="67">
                <c:v>2.9433769487750556</c:v>
              </c:pt>
              <c:pt idx="68">
                <c:v>2.3555815109343938</c:v>
              </c:pt>
              <c:pt idx="69">
                <c:v>3.6572124243221902</c:v>
              </c:pt>
              <c:pt idx="70">
                <c:v>1.8498271704180065</c:v>
              </c:pt>
              <c:pt idx="71">
                <c:v>2.8191809720785934</c:v>
              </c:pt>
              <c:pt idx="72">
                <c:v>1.4671609276177089</c:v>
              </c:pt>
              <c:pt idx="73">
                <c:v>1.6707761974615727</c:v>
              </c:pt>
              <c:pt idx="74">
                <c:v>2.8135677363773421</c:v>
              </c:pt>
              <c:pt idx="75">
                <c:v>2.3902160148975788</c:v>
              </c:pt>
              <c:pt idx="76">
                <c:v>3.4157836084073918</c:v>
              </c:pt>
              <c:pt idx="77">
                <c:v>2.43330441302485</c:v>
              </c:pt>
              <c:pt idx="78">
                <c:v>2.8007732361364228</c:v>
              </c:pt>
              <c:pt idx="79">
                <c:v>1.739190547570761</c:v>
              </c:pt>
              <c:pt idx="80">
                <c:v>2.9787154763850299</c:v>
              </c:pt>
              <c:pt idx="81">
                <c:v>1.2944456949915588</c:v>
              </c:pt>
              <c:pt idx="82">
                <c:v>1.7552528658125421</c:v>
              </c:pt>
              <c:pt idx="83">
                <c:v>0.86707674715813543</c:v>
              </c:pt>
              <c:pt idx="84">
                <c:v>0.97823737252067777</c:v>
              </c:pt>
              <c:pt idx="85">
                <c:v>1.4297038895859473</c:v>
              </c:pt>
              <c:pt idx="86">
                <c:v>1.7115567935623646</c:v>
              </c:pt>
              <c:pt idx="87">
                <c:v>1.4146976744186046</c:v>
              </c:pt>
              <c:pt idx="88">
                <c:v>1.1117240156083719</c:v>
              </c:pt>
              <c:pt idx="89">
                <c:v>0.81299376481953101</c:v>
              </c:pt>
              <c:pt idx="90">
                <c:v>0.7920339601971883</c:v>
              </c:pt>
              <c:pt idx="91">
                <c:v>1.1289114477588631</c:v>
              </c:pt>
              <c:pt idx="92">
                <c:v>0.80194980184940556</c:v>
              </c:pt>
              <c:pt idx="93">
                <c:v>0.53651222528779374</c:v>
              </c:pt>
              <c:pt idx="94">
                <c:v>0.63141094481891924</c:v>
              </c:pt>
              <c:pt idx="95">
                <c:v>0.88365036055349844</c:v>
              </c:pt>
              <c:pt idx="96">
                <c:v>0.41804495804970715</c:v>
              </c:pt>
              <c:pt idx="97">
                <c:v>0.64746587242491926</c:v>
              </c:pt>
              <c:pt idx="98">
                <c:v>4.3542534605563767E-2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2D0F-4F96-8A68-ADFE24E78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1516351"/>
        <c:axId val="1611308175"/>
      </c:scatterChart>
      <c:valAx>
        <c:axId val="1611308175"/>
        <c:scaling>
          <c:orientation val="minMax"/>
        </c:scaling>
        <c:delete val="0"/>
        <c:axPos val="l"/>
        <c:majorGridlines>
          <c:spPr>
            <a:ln w="9528" cap="flat">
              <a:solidFill>
                <a:srgbClr val="D9D9D9"/>
              </a:solidFill>
              <a:prstDash val="solid"/>
              <a:round/>
            </a:ln>
          </c:spPr>
        </c:majorGridlines>
        <c:numFmt formatCode="&quot;$&quot;#,##0.00&quot; &quot;;[Red]&quot;(&quot;&quot;$&quot;#,##0.00&quot;)&quot;" sourceLinked="0"/>
        <c:majorTickMark val="none"/>
        <c:minorTickMark val="none"/>
        <c:tickLblPos val="nextTo"/>
        <c:spPr>
          <a:noFill/>
          <a:ln w="9528" cap="flat">
            <a:solidFill>
              <a:srgbClr val="BFBFBF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11516351"/>
        <c:crosses val="autoZero"/>
        <c:crossBetween val="midCat"/>
      </c:valAx>
      <c:valAx>
        <c:axId val="1611516351"/>
        <c:scaling>
          <c:orientation val="minMax"/>
        </c:scaling>
        <c:delete val="0"/>
        <c:axPos val="b"/>
        <c:majorGridlines>
          <c:spPr>
            <a:ln w="9528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BFBFBF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900" b="0" i="0" u="none" strike="noStrike" kern="1200" baseline="0">
                <a:solidFill>
                  <a:srgbClr val="595959"/>
                </a:solidFill>
                <a:latin typeface="Aptos"/>
              </a:defRPr>
            </a:pPr>
            <a:endParaRPr lang="en-US"/>
          </a:p>
        </c:txPr>
        <c:crossAx val="1611308175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US" sz="1000" b="0" i="0" u="none" strike="noStrike" kern="1200" baseline="0">
          <a:solidFill>
            <a:srgbClr val="000000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3F-4125-8D9C-BC023D243722}"/>
              </c:ext>
            </c:extLst>
          </c:dPt>
          <c:dPt>
            <c:idx val="1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3F-4125-8D9C-BC023D243722}"/>
              </c:ext>
            </c:extLst>
          </c:dPt>
          <c:dPt>
            <c:idx val="2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3F-4125-8D9C-BC023D243722}"/>
              </c:ext>
            </c:extLst>
          </c:dPt>
          <c:dPt>
            <c:idx val="3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3F-4125-8D9C-BC023D243722}"/>
              </c:ext>
            </c:extLst>
          </c:dPt>
          <c:dPt>
            <c:idx val="4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83F-4125-8D9C-BC023D243722}"/>
              </c:ext>
            </c:extLst>
          </c:dPt>
          <c:dPt>
            <c:idx val="5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83F-4125-8D9C-BC023D243722}"/>
              </c:ext>
            </c:extLst>
          </c:dPt>
          <c:dPt>
            <c:idx val="6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83F-4125-8D9C-BC023D243722}"/>
              </c:ext>
            </c:extLst>
          </c:dPt>
          <c:dPt>
            <c:idx val="7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83F-4125-8D9C-BC023D243722}"/>
              </c:ext>
            </c:extLst>
          </c:dPt>
          <c:dPt>
            <c:idx val="8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83F-4125-8D9C-BC023D243722}"/>
              </c:ext>
            </c:extLst>
          </c:dPt>
          <c:dPt>
            <c:idx val="9"/>
            <c:invertIfNegative val="0"/>
            <c:bubble3D val="0"/>
            <c:spPr>
              <a:solidFill>
                <a:srgbClr val="C8A9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83F-4125-8D9C-BC023D243722}"/>
              </c:ext>
            </c:extLst>
          </c:dPt>
          <c:dPt>
            <c:idx val="10"/>
            <c:invertIfNegative val="0"/>
            <c:bubble3D val="0"/>
            <c:spPr>
              <a:solidFill>
                <a:srgbClr val="DDDD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D83F-4125-8D9C-BC023D243722}"/>
              </c:ext>
            </c:extLst>
          </c:dPt>
          <c:cat>
            <c:strRef>
              <c:f>Sheet1!$A$2:$A$12</c:f>
              <c:strCache>
                <c:ptCount val="11"/>
                <c:pt idx="0">
                  <c:v>Hy-Vee #3 Des Moines</c:v>
                </c:pt>
                <c:pt idx="1">
                  <c:v>Central City 2</c:v>
                </c:pt>
                <c:pt idx="2">
                  <c:v>Costco #788</c:v>
                </c:pt>
                <c:pt idx="3">
                  <c:v>Lot-a-spirits</c:v>
                </c:pt>
                <c:pt idx="4">
                  <c:v>Sam's Club Windsor</c:v>
                </c:pt>
                <c:pt idx="5">
                  <c:v>Hy-Vee Iowa City</c:v>
                </c:pt>
                <c:pt idx="6">
                  <c:v>Sam's Club Cedar Rapids</c:v>
                </c:pt>
                <c:pt idx="7">
                  <c:v>Sam's Club Davenport</c:v>
                </c:pt>
                <c:pt idx="8">
                  <c:v>Benz Distributing</c:v>
                </c:pt>
                <c:pt idx="9">
                  <c:v>Hy-Vee Wine #2</c:v>
                </c:pt>
                <c:pt idx="10">
                  <c:v>Remaining 1,215 stores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983829</c:v>
                </c:pt>
                <c:pt idx="1">
                  <c:v>850280</c:v>
                </c:pt>
                <c:pt idx="2">
                  <c:v>496719</c:v>
                </c:pt>
                <c:pt idx="3">
                  <c:v>374703</c:v>
                </c:pt>
                <c:pt idx="4">
                  <c:v>356109</c:v>
                </c:pt>
                <c:pt idx="5">
                  <c:v>349143</c:v>
                </c:pt>
                <c:pt idx="6">
                  <c:v>270625</c:v>
                </c:pt>
                <c:pt idx="7">
                  <c:v>219900</c:v>
                </c:pt>
                <c:pt idx="8">
                  <c:v>217333</c:v>
                </c:pt>
                <c:pt idx="9">
                  <c:v>201588</c:v>
                </c:pt>
                <c:pt idx="10">
                  <c:v>16896127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D83F-4125-8D9C-BC023D2437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noFill/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Hy-Vee #3 Des Moines</c:v>
                </c:pt>
              </c:strCache>
            </c:strRef>
          </c:tx>
          <c:spPr>
            <a:ln w="25400" cap="flat">
              <a:solidFill>
                <a:srgbClr val="C8A9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A951"/>
              </a:solidFill>
              <a:ln w="9525" cap="flat">
                <a:solidFill>
                  <a:srgbClr val="C8A951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29748</c:v>
                </c:pt>
                <c:pt idx="1">
                  <c:v>31736</c:v>
                </c:pt>
                <c:pt idx="2">
                  <c:v>38253</c:v>
                </c:pt>
                <c:pt idx="3">
                  <c:v>36165</c:v>
                </c:pt>
                <c:pt idx="4">
                  <c:v>36510</c:v>
                </c:pt>
                <c:pt idx="5">
                  <c:v>19037</c:v>
                </c:pt>
                <c:pt idx="6">
                  <c:v>20937</c:v>
                </c:pt>
                <c:pt idx="7">
                  <c:v>21478</c:v>
                </c:pt>
                <c:pt idx="8">
                  <c:v>21624</c:v>
                </c:pt>
                <c:pt idx="9">
                  <c:v>34755</c:v>
                </c:pt>
                <c:pt idx="10">
                  <c:v>7443</c:v>
                </c:pt>
                <c:pt idx="11">
                  <c:v>3380</c:v>
                </c:pt>
                <c:pt idx="12">
                  <c:v>8501</c:v>
                </c:pt>
                <c:pt idx="13">
                  <c:v>21837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5D-4B1E-B537-3721CE810A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City 2</c:v>
                </c:pt>
              </c:strCache>
            </c:strRef>
          </c:tx>
          <c:spPr>
            <a:ln w="25400" cap="flat">
              <a:solidFill>
                <a:srgbClr val="BBBB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BBBBB"/>
              </a:solidFill>
              <a:ln w="9525" cap="flat">
                <a:solidFill>
                  <a:srgbClr val="BBBBBB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24403</c:v>
                </c:pt>
                <c:pt idx="1">
                  <c:v>27481</c:v>
                </c:pt>
                <c:pt idx="2">
                  <c:v>29563</c:v>
                </c:pt>
                <c:pt idx="3">
                  <c:v>26917</c:v>
                </c:pt>
                <c:pt idx="4">
                  <c:v>31144</c:v>
                </c:pt>
                <c:pt idx="5">
                  <c:v>15767</c:v>
                </c:pt>
                <c:pt idx="6">
                  <c:v>17153</c:v>
                </c:pt>
                <c:pt idx="7">
                  <c:v>12755</c:v>
                </c:pt>
                <c:pt idx="8">
                  <c:v>14509</c:v>
                </c:pt>
                <c:pt idx="9">
                  <c:v>17005</c:v>
                </c:pt>
                <c:pt idx="10">
                  <c:v>9791</c:v>
                </c:pt>
                <c:pt idx="11">
                  <c:v>5077</c:v>
                </c:pt>
                <c:pt idx="12">
                  <c:v>13324</c:v>
                </c:pt>
                <c:pt idx="13">
                  <c:v>14711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B5D-4B1E-B537-3721CE810A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Sam's Club Windsor Hts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46286</c:v>
                </c:pt>
                <c:pt idx="1">
                  <c:v>16308</c:v>
                </c:pt>
                <c:pt idx="2">
                  <c:v>368</c:v>
                </c:pt>
                <c:pt idx="3">
                  <c:v>2636</c:v>
                </c:pt>
                <c:pt idx="4">
                  <c:v>10262</c:v>
                </c:pt>
                <c:pt idx="5">
                  <c:v>4414</c:v>
                </c:pt>
                <c:pt idx="6">
                  <c:v>5457</c:v>
                </c:pt>
                <c:pt idx="7">
                  <c:v>6840</c:v>
                </c:pt>
                <c:pt idx="8">
                  <c:v>891</c:v>
                </c:pt>
                <c:pt idx="9">
                  <c:v>6290</c:v>
                </c:pt>
                <c:pt idx="10">
                  <c:v>0</c:v>
                </c:pt>
                <c:pt idx="11">
                  <c:v>2736</c:v>
                </c:pt>
                <c:pt idx="12">
                  <c:v>1107</c:v>
                </c:pt>
                <c:pt idx="13">
                  <c:v>8644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B5D-4B1E-B537-3721CE810A2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Lot-a-Spirits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9611</c:v>
                </c:pt>
                <c:pt idx="1">
                  <c:v>11271</c:v>
                </c:pt>
                <c:pt idx="2">
                  <c:v>13247</c:v>
                </c:pt>
                <c:pt idx="3">
                  <c:v>11377</c:v>
                </c:pt>
                <c:pt idx="4">
                  <c:v>9995</c:v>
                </c:pt>
                <c:pt idx="5">
                  <c:v>6324</c:v>
                </c:pt>
                <c:pt idx="6">
                  <c:v>5645</c:v>
                </c:pt>
                <c:pt idx="7">
                  <c:v>6234</c:v>
                </c:pt>
                <c:pt idx="8">
                  <c:v>5164</c:v>
                </c:pt>
                <c:pt idx="9">
                  <c:v>5643</c:v>
                </c:pt>
                <c:pt idx="10">
                  <c:v>5225</c:v>
                </c:pt>
                <c:pt idx="11">
                  <c:v>2952</c:v>
                </c:pt>
                <c:pt idx="12">
                  <c:v>5483</c:v>
                </c:pt>
                <c:pt idx="13">
                  <c:v>5844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B5D-4B1E-B537-3721CE810A2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Hy-Vee Wine Iowa City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10499</c:v>
                </c:pt>
                <c:pt idx="1">
                  <c:v>11445</c:v>
                </c:pt>
                <c:pt idx="2">
                  <c:v>13582</c:v>
                </c:pt>
                <c:pt idx="3">
                  <c:v>9569</c:v>
                </c:pt>
                <c:pt idx="4">
                  <c:v>12412</c:v>
                </c:pt>
                <c:pt idx="5">
                  <c:v>6793</c:v>
                </c:pt>
                <c:pt idx="6">
                  <c:v>6255</c:v>
                </c:pt>
                <c:pt idx="7">
                  <c:v>7270</c:v>
                </c:pt>
                <c:pt idx="8">
                  <c:v>4329</c:v>
                </c:pt>
                <c:pt idx="9">
                  <c:v>5369</c:v>
                </c:pt>
                <c:pt idx="10">
                  <c:v>4508</c:v>
                </c:pt>
                <c:pt idx="11">
                  <c:v>2403</c:v>
                </c:pt>
                <c:pt idx="12">
                  <c:v>4198</c:v>
                </c:pt>
                <c:pt idx="13">
                  <c:v>4692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8B5D-4B1E-B537-3721CE810A2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Liquor Downtown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Sheet1!$G$2:$G$15</c:f>
              <c:numCache>
                <c:formatCode>General</c:formatCode>
                <c:ptCount val="14"/>
                <c:pt idx="0">
                  <c:v>7543</c:v>
                </c:pt>
                <c:pt idx="1">
                  <c:v>13410</c:v>
                </c:pt>
                <c:pt idx="2">
                  <c:v>8336</c:v>
                </c:pt>
                <c:pt idx="3">
                  <c:v>14205</c:v>
                </c:pt>
                <c:pt idx="4">
                  <c:v>13610</c:v>
                </c:pt>
                <c:pt idx="5">
                  <c:v>2690</c:v>
                </c:pt>
                <c:pt idx="6">
                  <c:v>3684</c:v>
                </c:pt>
                <c:pt idx="7">
                  <c:v>5248</c:v>
                </c:pt>
                <c:pt idx="8">
                  <c:v>6602</c:v>
                </c:pt>
                <c:pt idx="9">
                  <c:v>7242</c:v>
                </c:pt>
                <c:pt idx="10">
                  <c:v>4310</c:v>
                </c:pt>
                <c:pt idx="11">
                  <c:v>1192</c:v>
                </c:pt>
                <c:pt idx="12">
                  <c:v>4715</c:v>
                </c:pt>
                <c:pt idx="13">
                  <c:v>2773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8B5D-4B1E-B537-3721CE810A2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Hy-Vee Clinton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Sheet1!$H$2:$H$15</c:f>
              <c:numCache>
                <c:formatCode>General</c:formatCode>
                <c:ptCount val="14"/>
                <c:pt idx="0">
                  <c:v>9372</c:v>
                </c:pt>
                <c:pt idx="1">
                  <c:v>9545</c:v>
                </c:pt>
                <c:pt idx="2">
                  <c:v>7125</c:v>
                </c:pt>
                <c:pt idx="3">
                  <c:v>9357</c:v>
                </c:pt>
                <c:pt idx="4">
                  <c:v>10893</c:v>
                </c:pt>
                <c:pt idx="5">
                  <c:v>4559</c:v>
                </c:pt>
                <c:pt idx="6">
                  <c:v>4862</c:v>
                </c:pt>
                <c:pt idx="7">
                  <c:v>4472</c:v>
                </c:pt>
                <c:pt idx="8">
                  <c:v>2703</c:v>
                </c:pt>
                <c:pt idx="9">
                  <c:v>10581</c:v>
                </c:pt>
                <c:pt idx="10">
                  <c:v>1324</c:v>
                </c:pt>
                <c:pt idx="11">
                  <c:v>1286</c:v>
                </c:pt>
                <c:pt idx="12">
                  <c:v>3566</c:v>
                </c:pt>
                <c:pt idx="13">
                  <c:v>3635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8B5D-4B1E-B537-3721CE810A2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Sam's Club Cedar Rapids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Sheet1!$I$2:$I$15</c:f>
              <c:numCache>
                <c:formatCode>General</c:formatCode>
                <c:ptCount val="14"/>
                <c:pt idx="0">
                  <c:v>2016</c:v>
                </c:pt>
                <c:pt idx="1">
                  <c:v>12494</c:v>
                </c:pt>
                <c:pt idx="2">
                  <c:v>3860</c:v>
                </c:pt>
                <c:pt idx="3">
                  <c:v>5956</c:v>
                </c:pt>
                <c:pt idx="4">
                  <c:v>21090</c:v>
                </c:pt>
                <c:pt idx="5">
                  <c:v>364</c:v>
                </c:pt>
                <c:pt idx="6">
                  <c:v>2218</c:v>
                </c:pt>
                <c:pt idx="7">
                  <c:v>7100</c:v>
                </c:pt>
                <c:pt idx="8">
                  <c:v>1417</c:v>
                </c:pt>
                <c:pt idx="9">
                  <c:v>8626</c:v>
                </c:pt>
                <c:pt idx="10">
                  <c:v>702</c:v>
                </c:pt>
                <c:pt idx="11">
                  <c:v>508</c:v>
                </c:pt>
                <c:pt idx="12">
                  <c:v>558</c:v>
                </c:pt>
                <c:pt idx="13">
                  <c:v>10408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8B5D-4B1E-B537-3721CE810A2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Hy-Vee Wine #2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Sheet1!$J$2:$J$15</c:f>
              <c:numCache>
                <c:formatCode>General</c:formatCode>
                <c:ptCount val="14"/>
                <c:pt idx="0">
                  <c:v>6894</c:v>
                </c:pt>
                <c:pt idx="1">
                  <c:v>9260</c:v>
                </c:pt>
                <c:pt idx="2">
                  <c:v>7286</c:v>
                </c:pt>
                <c:pt idx="3">
                  <c:v>12395</c:v>
                </c:pt>
                <c:pt idx="4">
                  <c:v>6474</c:v>
                </c:pt>
                <c:pt idx="5">
                  <c:v>3465</c:v>
                </c:pt>
                <c:pt idx="6">
                  <c:v>4798</c:v>
                </c:pt>
                <c:pt idx="7">
                  <c:v>3544</c:v>
                </c:pt>
                <c:pt idx="8">
                  <c:v>4120</c:v>
                </c:pt>
                <c:pt idx="9">
                  <c:v>4998</c:v>
                </c:pt>
                <c:pt idx="10">
                  <c:v>3934</c:v>
                </c:pt>
                <c:pt idx="11">
                  <c:v>1602</c:v>
                </c:pt>
                <c:pt idx="12">
                  <c:v>3315</c:v>
                </c:pt>
                <c:pt idx="13">
                  <c:v>4191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8B5D-4B1E-B537-3721CE810A2C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Hy-Vee Carroll</c:v>
                </c:pt>
              </c:strCache>
            </c:strRef>
          </c:tx>
          <c:spPr>
            <a:ln w="25400" cap="flat">
              <a:solidFill>
                <a:srgbClr val="CCCC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CCCCC"/>
              </a:solidFill>
              <a:ln w="9525" cap="flat">
                <a:solidFill>
                  <a:srgbClr val="CCCCC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Jan 14</c:v>
                </c:pt>
                <c:pt idx="1">
                  <c:v>Feb 14</c:v>
                </c:pt>
                <c:pt idx="2">
                  <c:v>Mar 14</c:v>
                </c:pt>
                <c:pt idx="3">
                  <c:v>Apr 14</c:v>
                </c:pt>
                <c:pt idx="4">
                  <c:v>May 14</c:v>
                </c:pt>
                <c:pt idx="5">
                  <c:v>Jun 14</c:v>
                </c:pt>
                <c:pt idx="6">
                  <c:v>Jul 14</c:v>
                </c:pt>
                <c:pt idx="7">
                  <c:v>Aug 14</c:v>
                </c:pt>
                <c:pt idx="8">
                  <c:v>Sep 14</c:v>
                </c:pt>
                <c:pt idx="9">
                  <c:v>Oct 14</c:v>
                </c:pt>
                <c:pt idx="10">
                  <c:v>Nov 14</c:v>
                </c:pt>
                <c:pt idx="11">
                  <c:v>Dec 14</c:v>
                </c:pt>
                <c:pt idx="12">
                  <c:v>Jan 15</c:v>
                </c:pt>
                <c:pt idx="13">
                  <c:v>Feb 15</c:v>
                </c:pt>
              </c:strCache>
            </c:strRef>
          </c:cat>
          <c:val>
            <c:numRef>
              <c:f>Sheet1!$K$2:$K$15</c:f>
              <c:numCache>
                <c:formatCode>General</c:formatCode>
                <c:ptCount val="14"/>
                <c:pt idx="0">
                  <c:v>8952</c:v>
                </c:pt>
                <c:pt idx="1">
                  <c:v>5697</c:v>
                </c:pt>
                <c:pt idx="2">
                  <c:v>7633</c:v>
                </c:pt>
                <c:pt idx="3">
                  <c:v>7357</c:v>
                </c:pt>
                <c:pt idx="4">
                  <c:v>10126</c:v>
                </c:pt>
                <c:pt idx="5">
                  <c:v>3826</c:v>
                </c:pt>
                <c:pt idx="6">
                  <c:v>5198</c:v>
                </c:pt>
                <c:pt idx="7">
                  <c:v>3626</c:v>
                </c:pt>
                <c:pt idx="8">
                  <c:v>2945</c:v>
                </c:pt>
                <c:pt idx="9">
                  <c:v>4423</c:v>
                </c:pt>
                <c:pt idx="10">
                  <c:v>3789</c:v>
                </c:pt>
                <c:pt idx="11">
                  <c:v>566</c:v>
                </c:pt>
                <c:pt idx="12">
                  <c:v>3274</c:v>
                </c:pt>
                <c:pt idx="13">
                  <c:v>4674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8B5D-4B1E-B537-3721CE810A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0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0.25758</cdr:x>
      <cdr:y>0.12791</cdr:y>
    </cdr:from>
    <cdr:to>
      <cdr:x>0.33187</cdr:x>
      <cdr:y>0.88055</cdr:y>
    </cdr:to>
    <cdr:sp macro="" textlink="">
      <cdr:nvSpPr>
        <cdr:cNvPr id="2" name="Right Brace 1">
          <a:extLst xmlns:a="http://schemas.openxmlformats.org/drawingml/2006/main">
            <a:ext uri="{FF2B5EF4-FFF2-40B4-BE49-F238E27FC236}">
              <a16:creationId xmlns:a16="http://schemas.microsoft.com/office/drawing/2014/main" id="{2C8DBCB6-962A-6103-536C-FCE325B93EDD}"/>
            </a:ext>
          </a:extLst>
        </cdr:cNvPr>
        <cdr:cNvSpPr/>
      </cdr:nvSpPr>
      <cdr:spPr>
        <a:xfrm xmlns:a="http://schemas.openxmlformats.org/drawingml/2006/main">
          <a:off x="2190404" y="502920"/>
          <a:ext cx="631767" cy="2959331"/>
        </a:xfrm>
        <a:prstGeom xmlns:a="http://schemas.openxmlformats.org/drawingml/2006/main" prst="rightBrace">
          <a:avLst/>
        </a:prstGeom>
        <a:noFill xmlns:a="http://schemas.openxmlformats.org/drawingml/2006/main"/>
        <a:ln xmlns:a="http://schemas.openxmlformats.org/drawingml/2006/main" w="31750">
          <a:solidFill>
            <a:srgbClr val="C8A95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  <cdr:relSizeAnchor xmlns:cdr="http://schemas.openxmlformats.org/drawingml/2006/chartDrawing">
    <cdr:from>
      <cdr:x>0.28925</cdr:x>
      <cdr:y>0.19345</cdr:y>
    </cdr:from>
    <cdr:to>
      <cdr:x>0.67849</cdr:x>
      <cdr:y>0.91828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C507E5EE-249F-B4F9-8F0F-3D8BFB33783A}"/>
            </a:ext>
          </a:extLst>
        </cdr:cNvPr>
        <cdr:cNvSpPr txBox="1"/>
      </cdr:nvSpPr>
      <cdr:spPr>
        <a:xfrm xmlns:a="http://schemas.openxmlformats.org/drawingml/2006/main">
          <a:off x="2459792" y="760614"/>
          <a:ext cx="3310016" cy="28499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en-US" sz="4400" b="1" kern="1200" dirty="0">
              <a:solidFill>
                <a:srgbClr val="C8A951"/>
              </a:solidFill>
            </a:rPr>
            <a:t>20%</a:t>
          </a:r>
          <a:br>
            <a:rPr lang="en-US" sz="1800" kern="1200" dirty="0"/>
          </a:br>
          <a:r>
            <a:rPr lang="en-US" sz="3200" kern="1200" dirty="0">
              <a:solidFill>
                <a:srgbClr val="AAAAAA"/>
              </a:solidFill>
            </a:rPr>
            <a:t>of revenue</a:t>
          </a:r>
          <a:br>
            <a:rPr lang="en-US" sz="3200" kern="1200" dirty="0">
              <a:solidFill>
                <a:srgbClr val="AAAAAA"/>
              </a:solidFill>
            </a:rPr>
          </a:br>
          <a:r>
            <a:rPr lang="en-US" sz="3200" kern="1200" dirty="0">
              <a:solidFill>
                <a:srgbClr val="AAAAAA"/>
              </a:solidFill>
            </a:rPr>
            <a:t>generated by </a:t>
          </a:r>
          <a:br>
            <a:rPr lang="en-US" sz="3200" kern="1200" dirty="0">
              <a:solidFill>
                <a:srgbClr val="AAAAAA"/>
              </a:solidFill>
            </a:rPr>
          </a:br>
          <a:r>
            <a:rPr lang="en-US" sz="2800" b="1" kern="1200" dirty="0">
              <a:solidFill>
                <a:srgbClr val="1A1A1A"/>
              </a:solidFill>
            </a:rPr>
            <a:t>10</a:t>
          </a:r>
          <a:r>
            <a:rPr lang="en-US" sz="2600" b="1" kern="1200" dirty="0">
              <a:solidFill>
                <a:srgbClr val="1A1A1A"/>
              </a:solidFill>
            </a:rPr>
            <a:t> </a:t>
          </a:r>
          <a:br>
            <a:rPr lang="en-US" sz="2600" b="1" kern="1200" dirty="0">
              <a:solidFill>
                <a:srgbClr val="1A1A1A"/>
              </a:solidFill>
            </a:rPr>
          </a:br>
          <a:r>
            <a:rPr lang="en-US" sz="2600" b="1" kern="1200" dirty="0">
              <a:solidFill>
                <a:srgbClr val="1A1A1A"/>
              </a:solidFill>
            </a:rPr>
            <a:t>stores</a:t>
          </a:r>
        </a:p>
      </cdr:txBody>
    </cdr: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4-30T21:53:28.44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650 82,'-42'3,"1"1,0 2,0 2,1 2,0 1,-60 26,79-28,0 0,0 2,1 0,0 1,1 1,1 1,0 0,1 2,0 0,-16 21,23-25,-1 0,0 2,-16 27,23-34,1-1,0 1,1 1,0-1,0 0,1 0,-1 1,2-1,-1 13,1-18,0 46,8 73,-5-104,1 0,0 0,1 0,1-1,0 0,1 0,17 26,-6-12,69 95,-74-109,0-2,1 1,1-2,0 0,30 19,-12-11,0-1,1-2,1-1,54 18,-61-30,1 0,53 0,0 0,0 2,0-3,92-8,-162 2,1 0,0-1,-1-1,0 1,1-2,-2 0,1 0,0-1,-1-1,0 0,-1 0,0-1,0-1,0 1,-1-1,13-18,6-10,-1-2,-2-1,24-50,-42 74,0-1,-1 0,0 0,5-34,-10 48,11-49,-3-1,-2 0,1-69,-8 101,0-6,-1 1,0 0,-7-27,6 44,-1-1,0 1,-1 0,0 0,0 0,-1 0,0 1,-1 0,0 0,0 0,-11-10,-2 1,0 1,-2 1,1 1,-43-21,-99-36,137 61,1 2,0 0,-1 2,0 0,-42-3,-102 5,145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63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$948,854.20  potential increase in revenue if hits to benchmark value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9975-4C75-44FA-DD8B-E59D35BD61D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806F-2B6D-E735-A79C-DAB346A8A2F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3872-26EA-C028-0B27-1707F2F82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B1872E-1717-464D-84CA-2EC2DFF7BD25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B7292-B3C1-6D59-FD73-153A9500B29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BEF9-B134-CAC2-E123-75E25DBE97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12D160-34F7-40A8-9C04-FE584CF35C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043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CE4E-FD69-6623-2577-A3AAFD2B0C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2" y="841771"/>
            <a:ext cx="6858000" cy="1790699"/>
          </a:xfrm>
        </p:spPr>
        <p:txBody>
          <a:bodyPr anchor="b" anchorCtr="1"/>
          <a:lstStyle>
            <a:lvl1pPr algn="ctr">
              <a:defRPr sz="45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F3794-05E7-EB3A-BCA8-E318873066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2" y="2701530"/>
            <a:ext cx="6858000" cy="1241819"/>
          </a:xfrm>
        </p:spPr>
        <p:txBody>
          <a:bodyPr anchorCtr="1"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620A8-BA4F-102F-3758-1D22D31BA2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FD7C902-109C-47EA-9AAC-0619DAC5BAFF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7A744-95AF-07AF-5986-4C579E876D2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1823E-1C2C-975E-A2FB-F8EBCB542C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73001C-3CAC-494B-B2F0-FDC15A550D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902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9975-4C75-44FA-DD8B-E59D35BD61D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7806F-2B6D-E735-A79C-DAB346A8A2F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3872-26EA-C028-0B27-1707F2F82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B1872E-1717-464D-84CA-2EC2DFF7BD25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B7292-B3C1-6D59-FD73-153A9500B29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BEF9-B134-CAC2-E123-75E25DBE97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12D160-34F7-40A8-9C04-FE584CF35C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346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3F27-B04E-188A-2181-3611CF793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3885" y="1282302"/>
            <a:ext cx="7886700" cy="2139551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C92FE-886C-CC47-B2DF-92DEEF9C5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885" y="3442099"/>
            <a:ext cx="7886700" cy="1125137"/>
          </a:xfrm>
        </p:spPr>
        <p:txBody>
          <a:bodyPr/>
          <a:lstStyle>
            <a:lvl1pPr marL="0" indent="0">
              <a:buNone/>
              <a:defRPr sz="18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A1B6D-E737-25A3-2822-DBE26D6A2DE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B150C8-77A8-40A5-A813-7BFEE8D8BA36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09193-9224-B5E8-9732-9CDF83CE36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FAB07-9C5A-5CDC-0547-AF66D14834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0EC4E4-B809-4E3B-A3E8-617BB798D9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1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2677-CC2C-8D64-3895-862729DE312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0E940-0855-646E-ED9F-4F09D48E2C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3" y="1369220"/>
            <a:ext cx="3886202" cy="326350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7A8E8-29FB-244E-65CD-A023B005AB8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629151" y="1369220"/>
            <a:ext cx="3886202" cy="326350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69C5A-8CDC-6F9B-C984-590E5293C24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D38A2F-3B44-462C-AAA1-8974A4089E89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B6A49-3234-7DE2-277C-234581CBFE2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2DD1D-E544-00A9-24E4-50D965D8323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8ECE40-67CD-4E7E-B097-847E4B65E7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84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40DFD-8D23-AACE-A512-9BFE7F1E5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38" y="273847"/>
            <a:ext cx="7886700" cy="99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BBCAB-E168-CAF5-BA9F-46CD467BE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9838" y="1260870"/>
            <a:ext cx="3868337" cy="617933"/>
          </a:xfrm>
        </p:spPr>
        <p:txBody>
          <a:bodyPr anchor="b"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691D3-C265-911C-D1CF-F1E90A1F522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9838" y="1878804"/>
            <a:ext cx="3868337" cy="276343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29FFF-DA9F-0A83-32A2-262128DEDD6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629150" y="1260870"/>
            <a:ext cx="3887388" cy="617933"/>
          </a:xfrm>
        </p:spPr>
        <p:txBody>
          <a:bodyPr anchor="b"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48B6C-CD47-1B7B-AA46-48B2E37918FF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629150" y="1878804"/>
            <a:ext cx="3887388" cy="276343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CC8506-C3D2-75AE-E785-765A803920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955059-0805-4090-AACF-81C98FBD01F1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C428E-A5F2-878D-5450-796D31A5ACA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313FD9-7A58-E2B9-D82F-2FEC2EDC78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C0D18C5-8744-4A40-BC1C-315BABCE8F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45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FC16-6D52-CFA1-AED1-71C5491A57C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C21A02-32E5-C4CE-9166-5405DC48DC6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1C3EA9-745C-40D8-BCC1-5BAF364B5E0C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F261B-3D04-A12A-AE35-6A910E6DEFE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5CA4D-54CD-E7CA-E895-9CC08ED228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79FB70-8BD1-472C-97FE-108B76DF82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6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67F6D-2E4A-4D36-B94D-36F1707E2A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6139EB-ABF0-436E-B416-32984A8C3689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EDC87D-5CBB-1810-7C7D-56AA22CD16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EEF5C-CCDE-3C9F-2E0F-CC51959FCB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6EB974-AF55-4910-AF35-1BB3C834A9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9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FE4A-24F4-F5F6-17FD-8048B6E58F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38" y="342900"/>
            <a:ext cx="2949180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FDE9A-5A28-4D07-D545-5F2C14DCFA2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87388" y="740568"/>
            <a:ext cx="4629150" cy="365521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BD5E0-1A1F-0DFF-B0FF-5B3297630EB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38" y="1543050"/>
            <a:ext cx="2949180" cy="285868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68D4A-ADE4-F5A0-9FF9-57E110C7C8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826FD3-C5DD-4935-A76D-0A634E56FDF2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AE34C-C1EC-8E13-52C4-CAAC8679F9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A3D88-3B9D-4091-6C63-FD05A9E1E4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86A96A-0430-4302-8D69-C44F5904C34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17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BFDC-F1A4-A805-1C22-DCBB5C0B4E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38" y="342900"/>
            <a:ext cx="2949180" cy="1200150"/>
          </a:xfrm>
        </p:spPr>
        <p:txBody>
          <a:bodyPr anchor="b"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E9F0D-A1B6-B559-D8FE-F9155F15ED8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3887388" y="740568"/>
            <a:ext cx="4629150" cy="3655217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3E2E-34BB-3140-0560-B2E43FEDF6D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38" y="1543050"/>
            <a:ext cx="2949180" cy="285868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183CA-5084-286F-68A7-BDD5D08CC5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05C0D8-DE75-4359-8A5E-68895E3EEBF9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FA898-41A1-169A-BBE3-0E0AA842D5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54762-DF5D-F765-29F4-C9C7091374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23D7C1-E2A8-46AB-901B-1614E5398B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22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B326-2B4C-8E1B-648D-9562B9D050D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47C45-4C10-0024-D115-5F5C17DBB57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5FEBD-0121-D36E-F32C-F54F2AF51C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2DE08AE-AE50-47D6-BA67-92EC1D4E036B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79492-4CB5-2C04-984E-B48A248CE07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0900-DADC-C736-8DBD-D93F232211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186EE0-C568-40B4-8E3F-900301F242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47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A20A59-B22A-3F92-C9F7-2AA86DAFEBA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543678" y="273847"/>
            <a:ext cx="1971674" cy="4358876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63264-2F0B-9E53-3F4A-C59044CE8C1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28652" y="273847"/>
            <a:ext cx="5800722" cy="4358876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0B23F-48D6-C8DE-86D8-D7FF006FF3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471805-EA30-4D43-8C8A-4B77B270407A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2D5AE-31EE-112B-3F65-CBF8A3CCABB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1E85F-EFDB-2957-4013-FA28C7E8513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6FC51C-9673-44BA-B70B-CB93CDCCC0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8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A12D5-6661-1924-7600-E7204FE78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2" y="273847"/>
            <a:ext cx="7886700" cy="9941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81C41-ADD6-AF8E-8F55-1030F9450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2" y="1369220"/>
            <a:ext cx="7886700" cy="32635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68C94-0EC2-39CC-4ABA-E2CB001332D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28652" y="4767264"/>
            <a:ext cx="2057400" cy="2738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757F385C-6004-4B63-9C82-28F6675CF284}" type="datetime1">
              <a:rPr lang="en-US"/>
              <a:pPr lvl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6CCB5-8994-CB2C-1CFB-FF1A0B48BC5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028952" y="4767264"/>
            <a:ext cx="3086100" cy="2738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391B3-8100-3C03-BB66-807DFD436D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457952" y="4767264"/>
            <a:ext cx="2057400" cy="27384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6858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9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13FD8CDE-D699-4A0F-AA40-277790C438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marL="0" marR="0" lvl="0" indent="0" algn="l" defTabSz="6858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171450" marR="0" lvl="0" indent="-171450" algn="l" defTabSz="685800" rtl="0" fontAlgn="auto" hangingPunct="1">
        <a:lnSpc>
          <a:spcPct val="90000"/>
        </a:lnSpc>
        <a:spcBef>
          <a:spcPts val="750"/>
        </a:spcBef>
        <a:spcAft>
          <a:spcPts val="0"/>
        </a:spcAft>
        <a:buSzPct val="100000"/>
        <a:buFont typeface="Arial" pitchFamily="34"/>
        <a:buChar char="•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514350" marR="0" lvl="1" indent="-171450" algn="l" defTabSz="685800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857250" marR="0" lvl="2" indent="-171450" algn="l" defTabSz="685800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5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200150" marR="0" lvl="3" indent="-171450" algn="l" defTabSz="685800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35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1543050" marR="0" lvl="4" indent="-171450" algn="l" defTabSz="685800" rtl="0" fontAlgn="auto" hangingPunct="1">
        <a:lnSpc>
          <a:spcPct val="90000"/>
        </a:lnSpc>
        <a:spcBef>
          <a:spcPts val="375"/>
        </a:spcBef>
        <a:spcAft>
          <a:spcPts val="0"/>
        </a:spcAft>
        <a:buSzPct val="100000"/>
        <a:buFont typeface="Arial" pitchFamily="34"/>
        <a:buChar char="•"/>
        <a:tabLst/>
        <a:defRPr lang="en-US" sz="135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8A951"/>
                </a:solidFill>
              </a:rPr>
              <a:t>BACARDI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Iowa Market Analysis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011680" cy="457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D08A"/>
                </a:solidFill>
              </a:rPr>
              <a:t>Strengths · Weaknesses · Opportunities · Threats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Jan 2014-Feb 2015  |  Iowa State Liquor Market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Data Source: Iowa Alcoholic Beverages Division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</a:rPr>
              <a:t>Setting the Scene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88920" cy="3474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88920" cy="91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A951"/>
                </a:solidFill>
              </a:rPr>
              <a:t>THE 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Iowa is state-controlled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514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All spirits sales flow through the Iowa Alcoholic Beverages Division. The state sets uniform markup across all vendors &gt;&gt; meaning competition plays out through distribution, shelf presence, and retailer relationships, not pricing.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078992"/>
            <a:ext cx="2788920" cy="3474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078992"/>
            <a:ext cx="2788920" cy="91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1568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A951"/>
                </a:solidFill>
              </a:rPr>
              <a:t>THE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1572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14 months of transactions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01568" y="2148840"/>
            <a:ext cx="2514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This analysis covers Jan 2014 through Feb 2015 &gt;&gt; capturing a full seasonal cycle. The dataset includes 19,300+ individual transactions across 1,322 retail locations in all 99 Iowa counties.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1078992"/>
            <a:ext cx="2788920" cy="3474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08776" y="1078992"/>
            <a:ext cx="2788920" cy="91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45936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A951"/>
                </a:solidFill>
              </a:rPr>
              <a:t>THE QUESTION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5936" y="15727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</a:rPr>
              <a:t>Where does Bacardi stand?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2148840"/>
            <a:ext cx="2514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</a:rPr>
              <a:t>With $21.2M in revenue and 5.41% overall market share, Bacardi is 4th among named competitors. This analysis identifies what's working, what's not, and where the clearest growth opportunities lie.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</a:rPr>
              <a:t>A Quick Glance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951"/>
                </a:solidFill>
              </a:rPr>
              <a:t>Jan 2014 – Feb 2015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8404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624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A951"/>
                </a:solidFill>
              </a:rPr>
              <a:t>$21.2M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38404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682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A951"/>
                </a:solidFill>
              </a:rPr>
              <a:t>5.41%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Overall Market Share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37560"/>
            <a:ext cx="38404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3741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A951"/>
                </a:solidFill>
              </a:rPr>
              <a:t>$392.3M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Total Iowa Market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1921945181"/>
              </p:ext>
            </p:extLst>
          </p:nvPr>
        </p:nvGraphicFramePr>
        <p:xfrm>
          <a:off x="4572000" y="100584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58978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</a:rPr>
              <a:t>5.41%</a:t>
            </a:r>
          </a:p>
          <a:p>
            <a:pPr algn="ctr"/>
            <a:r>
              <a:rPr lang="en-US" sz="2400" dirty="0">
                <a:solidFill>
                  <a:srgbClr val="4A4A4A"/>
                </a:solidFill>
              </a:rPr>
              <a:t>market share</a:t>
            </a:r>
            <a:endParaRPr lang="en-US" sz="2400" dirty="0"/>
          </a:p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94360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</a:rPr>
              <a:t>A Quick Glance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A951"/>
                </a:solidFill>
              </a:rPr>
              <a:t>Jan 2014 – Feb 2015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Average bottle price: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$17.45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01368"/>
            <a:ext cx="85039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Active retail locations: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1,322 stores across Iowa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85039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Unique products (SKUs):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5146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100+ items &gt;&gt; minis to 1.75L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990088"/>
            <a:ext cx="85039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Top county by revenue: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1089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Polk County ($5.0M) &gt;&gt; Des Moines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584448"/>
            <a:ext cx="85039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703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Top store: 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703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Hy-Vee #3 / BDI / Des Moines &gt;&gt; $983K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78808"/>
            <a:ext cx="85039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4A4A"/>
                </a:solidFill>
              </a:rPr>
              <a:t>Top product: 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4297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Bacardi Superior Rum &gt;&gt; $4.9M, 32,552 transactions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</a:rPr>
              <a:t>Portfolio Diversity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A951"/>
                </a:solidFill>
              </a:rPr>
              <a:t>100+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</a:rPr>
              <a:t>Product Lines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231049685"/>
              </p:ext>
            </p:extLst>
          </p:nvPr>
        </p:nvGraphicFramePr>
        <p:xfrm>
          <a:off x="320040" y="914400"/>
          <a:ext cx="5852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2">
            <a:extLst>
              <a:ext uri="{FF2B5EF4-FFF2-40B4-BE49-F238E27FC236}">
                <a16:creationId xmlns:a16="http://schemas.microsoft.com/office/drawing/2014/main" id="{644F4E6B-9BE4-E99C-07C8-0B8AF84EBA64}"/>
              </a:ext>
            </a:extLst>
          </p:cNvPr>
          <p:cNvSpPr/>
          <p:nvPr/>
        </p:nvSpPr>
        <p:spPr>
          <a:xfrm>
            <a:off x="7772400" y="256032"/>
            <a:ext cx="1234440" cy="320040"/>
          </a:xfrm>
          <a:prstGeom prst="rect">
            <a:avLst/>
          </a:prstGeom>
          <a:solidFill>
            <a:srgbClr val="C8A9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STRENGTH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9C7B0-E77E-4483-19CC-2618EE1D2C4B}"/>
              </a:ext>
            </a:extLst>
          </p:cNvPr>
          <p:cNvSpPr txBox="1"/>
          <p:nvPr/>
        </p:nvSpPr>
        <p:spPr>
          <a:xfrm rot="16200000">
            <a:off x="-921177" y="1525844"/>
            <a:ext cx="243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</a:rPr>
              <a:t>Rum Dominance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0" y="256032"/>
            <a:ext cx="1234440" cy="320040"/>
          </a:xfrm>
          <a:prstGeom prst="rect">
            <a:avLst/>
          </a:prstGeom>
          <a:solidFill>
            <a:srgbClr val="C8A9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STRENGTH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186237466"/>
              </p:ext>
            </p:extLst>
          </p:nvPr>
        </p:nvGraphicFramePr>
        <p:xfrm>
          <a:off x="45720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097280"/>
            <a:ext cx="283464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35040" y="1143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951"/>
                </a:solidFill>
              </a:rPr>
              <a:t>#2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03504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in Rum Category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331720"/>
            <a:ext cx="28346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377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A951"/>
                </a:solidFill>
              </a:rPr>
              <a:t>19.9%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03504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Category Share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3566160"/>
            <a:ext cx="28346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</a:rPr>
              <a:t>$10.6M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35040" y="4069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Total Rum Revenue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</a:rPr>
              <a:t>Vodka is a Weak Spot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589520" y="256032"/>
            <a:ext cx="1417320" cy="320040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WEAKNESS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91440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097280"/>
            <a:ext cx="283464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35040" y="1143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#4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03504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CCC"/>
                </a:solidFill>
              </a:rPr>
              <a:t>in Vodka Category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331720"/>
            <a:ext cx="28346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377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0000"/>
                </a:solidFill>
              </a:rPr>
              <a:t>7.3%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03504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</a:rPr>
              <a:t>Category Share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3566160"/>
            <a:ext cx="28346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0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</a:rPr>
              <a:t>vs 20.5%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035040" y="4069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</a:rPr>
              <a:t>Diageo's Vodka Share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F91B-CA1A-6A82-E8CA-9B49481C2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" y="0"/>
            <a:ext cx="7779209" cy="994169"/>
          </a:xfrm>
        </p:spPr>
        <p:txBody>
          <a:bodyPr>
            <a:normAutofit/>
          </a:bodyPr>
          <a:lstStyle/>
          <a:p>
            <a:pPr lvl="0"/>
            <a:r>
              <a:rPr lang="en-US" sz="2800" b="1" dirty="0">
                <a:solidFill>
                  <a:srgbClr val="1A1A1A"/>
                </a:solidFill>
                <a:latin typeface="+mn-lt"/>
                <a:ea typeface="+mn-ea"/>
                <a:cs typeface="+mn-cs"/>
              </a:rPr>
              <a:t>Revenue Drop – Losing Small Buyers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BC930EAD-FBF2-249D-396A-FAB705253A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073559"/>
              </p:ext>
            </p:extLst>
          </p:nvPr>
        </p:nvGraphicFramePr>
        <p:xfrm>
          <a:off x="628652" y="1369220"/>
          <a:ext cx="5574032" cy="3263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2F1CE249-D3B2-D346-1535-5AA55259CF21}"/>
              </a:ext>
            </a:extLst>
          </p:cNvPr>
          <p:cNvSpPr txBox="1"/>
          <p:nvPr/>
        </p:nvSpPr>
        <p:spPr>
          <a:xfrm>
            <a:off x="6438898" y="2315611"/>
            <a:ext cx="2385062" cy="111569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t" anchorCtr="0" compatLnSpc="1">
            <a:sp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dirty="0">
                <a:solidFill>
                  <a:srgbClr val="1A1A1A"/>
                </a:solidFill>
              </a:rPr>
              <a:t>bought in Q1 made </a:t>
            </a:r>
            <a:r>
              <a:rPr lang="en-US" sz="3200" b="1" dirty="0">
                <a:solidFill>
                  <a:srgbClr val="8B0000"/>
                </a:solidFill>
              </a:rPr>
              <a:t>zero</a:t>
            </a:r>
            <a:r>
              <a:rPr lang="en-US" b="1" dirty="0">
                <a:solidFill>
                  <a:srgbClr val="1A1A1A"/>
                </a:solidFill>
              </a:rPr>
              <a:t> purchases by Q4</a:t>
            </a: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0FF99032-308B-BB02-FFA0-9313896D7045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73095AA-2F14-BD7B-1023-0B43709B4CF8}"/>
              </a:ext>
            </a:extLst>
          </p:cNvPr>
          <p:cNvSpPr/>
          <p:nvPr/>
        </p:nvSpPr>
        <p:spPr>
          <a:xfrm>
            <a:off x="7589520" y="256032"/>
            <a:ext cx="1417320" cy="320040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WEAKNESS</a:t>
            </a:r>
            <a:endParaRPr lang="en-US" sz="9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1A41AC4-178D-6D66-C225-C143A7089254}"/>
              </a:ext>
            </a:extLst>
          </p:cNvPr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96B55-0A5D-D97B-FAF6-B07B01D0339C}"/>
              </a:ext>
            </a:extLst>
          </p:cNvPr>
          <p:cNvSpPr txBox="1"/>
          <p:nvPr/>
        </p:nvSpPr>
        <p:spPr>
          <a:xfrm>
            <a:off x="6617846" y="1297349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C8A951"/>
                </a:solidFill>
              </a:rPr>
              <a:t>192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55A8-AF90-23FB-20FF-BFF98BC2C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335526" y="-20141"/>
            <a:ext cx="7886700" cy="994169"/>
          </a:xfrm>
        </p:spPr>
        <p:txBody>
          <a:bodyPr anchorCtr="1"/>
          <a:lstStyle/>
          <a:p>
            <a:pPr lvl="0" algn="ctr"/>
            <a:r>
              <a:rPr lang="en-US" dirty="0"/>
              <a:t>New SKUs??</a:t>
            </a:r>
          </a:p>
        </p:txBody>
      </p:sp>
      <p:graphicFrame>
        <p:nvGraphicFramePr>
          <p:cNvPr id="3" name="Chart 6">
            <a:extLst>
              <a:ext uri="{FF2B5EF4-FFF2-40B4-BE49-F238E27FC236}">
                <a16:creationId xmlns:a16="http://schemas.microsoft.com/office/drawing/2014/main" id="{3ADB53F2-056C-7184-BE99-833AACB7D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88343"/>
              </p:ext>
            </p:extLst>
          </p:nvPr>
        </p:nvGraphicFramePr>
        <p:xfrm>
          <a:off x="207393" y="974028"/>
          <a:ext cx="8307959" cy="4222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7">
            <a:extLst>
              <a:ext uri="{FF2B5EF4-FFF2-40B4-BE49-F238E27FC236}">
                <a16:creationId xmlns:a16="http://schemas.microsoft.com/office/drawing/2014/main" id="{A155569E-DF25-9027-D69D-FB11034933A7}"/>
              </a:ext>
            </a:extLst>
          </p:cNvPr>
          <p:cNvSpPr txBox="1"/>
          <p:nvPr/>
        </p:nvSpPr>
        <p:spPr>
          <a:xfrm>
            <a:off x="4572003" y="2340470"/>
            <a:ext cx="2324101" cy="6848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t" anchorCtr="0" compatLnSpc="1">
            <a:sp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latin typeface="+mj-lt"/>
                <a:ea typeface="+mj-ea"/>
                <a:cs typeface="+mj-cs"/>
              </a:rPr>
              <a:t>53 Unique SKUs 750ml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2B37C49-8CDE-3AE7-3CE0-7195F062A3CD}"/>
              </a:ext>
            </a:extLst>
          </p:cNvPr>
          <p:cNvSpPr/>
          <p:nvPr/>
        </p:nvSpPr>
        <p:spPr>
          <a:xfrm>
            <a:off x="7406640" y="256032"/>
            <a:ext cx="1600200" cy="320040"/>
          </a:xfrm>
          <a:prstGeom prst="rect">
            <a:avLst/>
          </a:prstGeom>
          <a:solidFill>
            <a:srgbClr val="1A6B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OPPORTUNITY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</a:rPr>
              <a:t>Linn &amp; Black Hawk Can Generate </a:t>
            </a:r>
            <a:r>
              <a:rPr lang="en-US" sz="3000" b="1" dirty="0">
                <a:solidFill>
                  <a:srgbClr val="1A1A1A"/>
                </a:solidFill>
                <a:highlight>
                  <a:srgbClr val="00FF00"/>
                </a:highlight>
              </a:rPr>
              <a:t>$1M </a:t>
            </a:r>
            <a:r>
              <a:rPr lang="en-US" sz="3000" b="1" dirty="0">
                <a:solidFill>
                  <a:srgbClr val="1A1A1A"/>
                </a:solidFill>
              </a:rPr>
              <a:t>More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06640" y="256032"/>
            <a:ext cx="1600200" cy="320040"/>
          </a:xfrm>
          <a:prstGeom prst="rect">
            <a:avLst/>
          </a:prstGeom>
          <a:solidFill>
            <a:srgbClr val="1A6B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</a:rPr>
              <a:t>Revenue per capita &gt;&gt; top 5 counties vs $</a:t>
            </a:r>
            <a:r>
              <a:rPr lang="en-US" sz="1300" i="1" dirty="0">
                <a:solidFill>
                  <a:srgbClr val="FF0000"/>
                </a:solidFill>
              </a:rPr>
              <a:t>11.13</a:t>
            </a:r>
            <a:r>
              <a:rPr lang="en-US" sz="1300" i="1" dirty="0">
                <a:solidFill>
                  <a:srgbClr val="4A4A4A"/>
                </a:solidFill>
              </a:rPr>
              <a:t> benchmark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40181791"/>
              </p:ext>
            </p:extLst>
          </p:nvPr>
        </p:nvGraphicFramePr>
        <p:xfrm>
          <a:off x="320040" y="1325880"/>
          <a:ext cx="8503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C73C76F-4E75-1D3F-C091-F8E7C7452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7794944"/>
              </p:ext>
            </p:extLst>
          </p:nvPr>
        </p:nvGraphicFramePr>
        <p:xfrm>
          <a:off x="628652" y="1369220"/>
          <a:ext cx="7886700" cy="3263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7">
            <a:extLst>
              <a:ext uri="{FF2B5EF4-FFF2-40B4-BE49-F238E27FC236}">
                <a16:creationId xmlns:a16="http://schemas.microsoft.com/office/drawing/2014/main" id="{B2458BE6-AF48-F1F4-E71D-8ACFD7F45619}"/>
              </a:ext>
            </a:extLst>
          </p:cNvPr>
          <p:cNvSpPr txBox="1"/>
          <p:nvPr/>
        </p:nvSpPr>
        <p:spPr>
          <a:xfrm>
            <a:off x="3743034" y="4702344"/>
            <a:ext cx="4772318" cy="2231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t" anchorCtr="0" compatLnSpc="1">
            <a:sp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kern="0" dirty="0">
                <a:solidFill>
                  <a:srgbClr val="000000"/>
                </a:solidFill>
                <a:latin typeface="Arial"/>
              </a:rPr>
              <a:t>POPULATION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847EF09-C881-F74E-CE93-AA7CB309ED27}"/>
              </a:ext>
            </a:extLst>
          </p:cNvPr>
          <p:cNvSpPr txBox="1"/>
          <p:nvPr/>
        </p:nvSpPr>
        <p:spPr>
          <a:xfrm rot="16200004">
            <a:off x="-2076134" y="1257650"/>
            <a:ext cx="4772318" cy="2231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t" anchorCtr="0" compatLnSpc="1">
            <a:spAutoFit/>
          </a:bodyPr>
          <a:lstStyle/>
          <a:p>
            <a:pPr defTabSz="6858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REVENUE PER CAPITA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73FD45DF-8EBD-3D12-06EC-3B4C10B1FCD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0D594A1-B1B1-9DA4-8B93-8A1A17D8A263}"/>
              </a:ext>
            </a:extLst>
          </p:cNvPr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82B1B3F-C23B-C5D0-66DE-B3141DD1DC72}"/>
              </a:ext>
            </a:extLst>
          </p:cNvPr>
          <p:cNvSpPr/>
          <p:nvPr/>
        </p:nvSpPr>
        <p:spPr>
          <a:xfrm>
            <a:off x="7406640" y="256032"/>
            <a:ext cx="1600200" cy="320040"/>
          </a:xfrm>
          <a:prstGeom prst="rect">
            <a:avLst/>
          </a:prstGeom>
          <a:solidFill>
            <a:srgbClr val="1A6B1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F0FBA0A2-118A-0A42-62A1-AB61E7308D73}"/>
              </a:ext>
            </a:extLst>
          </p:cNvPr>
          <p:cNvSpPr/>
          <p:nvPr/>
        </p:nvSpPr>
        <p:spPr>
          <a:xfrm>
            <a:off x="32004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</a:rPr>
              <a:t>Dickinson is in a Completely Different League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B32E714-AF88-8BDE-68AE-27FF98EDB983}"/>
                  </a:ext>
                </a:extLst>
              </p14:cNvPr>
              <p14:cNvContentPartPr/>
              <p14:nvPr/>
            </p14:nvContentPartPr>
            <p14:xfrm>
              <a:off x="1050663" y="1675829"/>
              <a:ext cx="532080" cy="4374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B32E714-AF88-8BDE-68AE-27FF98EDB9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7023" y="1568189"/>
                <a:ext cx="639720" cy="65304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hape 5">
            <a:extLst>
              <a:ext uri="{FF2B5EF4-FFF2-40B4-BE49-F238E27FC236}">
                <a16:creationId xmlns:a16="http://schemas.microsoft.com/office/drawing/2014/main" id="{AC2D2CC7-40DD-C21E-840F-9F0B34038BF5}"/>
              </a:ext>
            </a:extLst>
          </p:cNvPr>
          <p:cNvSpPr/>
          <p:nvPr/>
        </p:nvSpPr>
        <p:spPr>
          <a:xfrm>
            <a:off x="7406640" y="1077119"/>
            <a:ext cx="1737360" cy="3319315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CB6753-5B92-FC9B-FBDE-8CFF85587598}"/>
              </a:ext>
            </a:extLst>
          </p:cNvPr>
          <p:cNvSpPr txBox="1"/>
          <p:nvPr/>
        </p:nvSpPr>
        <p:spPr>
          <a:xfrm>
            <a:off x="7695590" y="2757830"/>
            <a:ext cx="1249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8A951"/>
                </a:solidFill>
              </a:rPr>
              <a:t>State</a:t>
            </a:r>
            <a:r>
              <a:rPr lang="en-US" dirty="0"/>
              <a:t> </a:t>
            </a:r>
            <a:r>
              <a:rPr lang="en-US" b="1" dirty="0">
                <a:solidFill>
                  <a:srgbClr val="C8A951"/>
                </a:solidFill>
              </a:rPr>
              <a:t>Avg</a:t>
            </a:r>
            <a:br>
              <a:rPr lang="en-US" dirty="0"/>
            </a:br>
            <a:r>
              <a:rPr lang="en-US" b="1" dirty="0">
                <a:solidFill>
                  <a:srgbClr val="FFFFFF"/>
                </a:solidFill>
              </a:rPr>
              <a:t>4.17% </a:t>
            </a:r>
            <a:br>
              <a:rPr lang="en-US" dirty="0"/>
            </a:br>
            <a:r>
              <a:rPr lang="en-US" dirty="0">
                <a:solidFill>
                  <a:srgbClr val="AAAAAA"/>
                </a:solidFill>
              </a:rPr>
              <a:t>per capita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DFC99D-DDAD-D419-8280-774051431931}"/>
              </a:ext>
            </a:extLst>
          </p:cNvPr>
          <p:cNvSpPr txBox="1"/>
          <p:nvPr/>
        </p:nvSpPr>
        <p:spPr>
          <a:xfrm>
            <a:off x="7695589" y="1576044"/>
            <a:ext cx="1249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8A951"/>
                </a:solidFill>
              </a:rPr>
              <a:t>Dickinson</a:t>
            </a:r>
            <a:br>
              <a:rPr lang="en-US" b="1" dirty="0">
                <a:solidFill>
                  <a:srgbClr val="C8A951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$21.34</a:t>
            </a:r>
            <a:br>
              <a:rPr lang="en-US" b="1" dirty="0">
                <a:solidFill>
                  <a:srgbClr val="C8A951"/>
                </a:solidFill>
              </a:rPr>
            </a:br>
            <a:r>
              <a:rPr lang="en-US" dirty="0">
                <a:solidFill>
                  <a:srgbClr val="AAAAAA"/>
                </a:solidFill>
              </a:rPr>
              <a:t>per capita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</a:rPr>
              <a:t>Revenue Dangerously Concentrated in Few Accounts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256032"/>
            <a:ext cx="1097280" cy="320040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THREAT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969028957"/>
              </p:ext>
            </p:extLst>
          </p:nvPr>
        </p:nvGraphicFramePr>
        <p:xfrm>
          <a:off x="320040" y="960120"/>
          <a:ext cx="85039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</a:rPr>
              <a:t>Top 10 Stores — Revenue Trend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18120" y="182880"/>
            <a:ext cx="1188720" cy="32918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18120" y="2011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THREAT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Monthly revenue Jan 2014 – Feb 2015  |  Hy-Vee #3 highlighted as top account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143000"/>
          <a:ext cx="64922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995160" y="1143000"/>
            <a:ext cx="201168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9516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A951"/>
                </a:solidFill>
              </a:rPr>
              <a:t>Hy-Vee #3 Peak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95160" y="144475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$38,253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995160" y="1920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Mar 2014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95160" y="2468880"/>
            <a:ext cx="20116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9516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</a:rPr>
              <a:t>Trough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95160" y="2770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0000"/>
                </a:solidFill>
              </a:rPr>
              <a:t>$3,380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995160" y="3246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</a:rPr>
              <a:t>Dec 2014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95160" y="3794760"/>
            <a:ext cx="2011680" cy="10972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9516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CCCC"/>
                </a:solidFill>
              </a:rPr>
              <a:t>Peak → Trough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5160" y="4096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-91%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69951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</a:rPr>
              <a:t>revenue decline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828032"/>
            <a:ext cx="649224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4828032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A951"/>
                </a:solidFill>
              </a:rPr>
              <a:t>All other stores follow the same seasonal cliff — but Hy-Vee #3 has the steepest drop and is the highest-risk account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Summary &amp; Recommendations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14800" cy="182880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042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1A1A"/>
                </a:solidFill>
              </a:rPr>
              <a:t>STRENGTHS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4447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#2 in rum category (19.9%)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874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100+ product portfolio across categories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304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Bacardi Superior highest volume SKU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114800" cy="182880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41148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27448" y="1042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WEAKNESSES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27448" y="14447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7.3% vodka share &gt;&gt; 4th place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7448" y="1874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84% revenue drop May → December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7448" y="23042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192 stores disengaged by Q4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4114800" cy="182880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4114800" cy="347472"/>
          </a:xfrm>
          <a:prstGeom prst="rect">
            <a:avLst/>
          </a:prstGeom>
          <a:solidFill>
            <a:srgbClr val="1A6B1A"/>
          </a:solidFill>
          <a:ln w="12700">
            <a:solidFill>
              <a:srgbClr val="1A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3008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OPPORTUNITIES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4107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Linn &amp; Black Hawk: $1M per capita gap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3840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Dickinson model replication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4270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1-liter SKU expansion ($361K avg/SKU)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71800"/>
            <a:ext cx="4114800" cy="182880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17720" y="2971800"/>
            <a:ext cx="4114800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27448" y="3008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THREATS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27448" y="35021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Top 10 stores = 20.4% of all revenue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91246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&gt;&gt; Winter months &gt;&gt; no competitive floor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589</Words>
  <Application>Microsoft Office PowerPoint</Application>
  <PresentationFormat>On-screen Show (16:9)</PresentationFormat>
  <Paragraphs>134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Revenue Drop – Losing Small Buyers</vt:lpstr>
      <vt:lpstr>New SKUs??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Bacardi Iowa Market Analysis</dc:title>
  <dc:subject>PptxGenJS Presentation</dc:subject>
  <dc:creator>PptxGenJS</dc:creator>
  <cp:lastModifiedBy>onur karaer</cp:lastModifiedBy>
  <cp:revision>12</cp:revision>
  <dcterms:created xsi:type="dcterms:W3CDTF">2026-04-30T21:17:55Z</dcterms:created>
  <dcterms:modified xsi:type="dcterms:W3CDTF">2026-05-01T10:06:35Z</dcterms:modified>
</cp:coreProperties>
</file>